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90" d="100"/>
          <a:sy n="90" d="100"/>
        </p:scale>
        <p:origin x="5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3458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960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197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8846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785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229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3845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3732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48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375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25212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403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1772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6053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4675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352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FD702A-A8EF-457F-BAD4-84D51B465407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9204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F746D-9983-4797-A066-D9917211B1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85770" y="1189579"/>
            <a:ext cx="7766936" cy="1424595"/>
          </a:xfrm>
        </p:spPr>
        <p:txBody>
          <a:bodyPr/>
          <a:lstStyle/>
          <a:p>
            <a:r>
              <a:rPr lang="pt-BR" sz="6600" dirty="0"/>
              <a:t>	</a:t>
            </a:r>
            <a:r>
              <a:rPr lang="pt-BR" sz="9600" b="1" i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Barroco</a:t>
            </a:r>
            <a:endParaRPr lang="pt-BR" sz="6600" b="1" i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985AAF9-6C54-4437-9DD0-799BC805B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3123412" y="2483546"/>
            <a:ext cx="7766936" cy="1096899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 arte com as mãos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39F40F-343E-4FAC-A78F-474FC5D8B7F2}"/>
              </a:ext>
            </a:extLst>
          </p:cNvPr>
          <p:cNvCxnSpPr/>
          <p:nvPr/>
        </p:nvCxnSpPr>
        <p:spPr>
          <a:xfrm>
            <a:off x="10657114" y="6629400"/>
            <a:ext cx="1143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7D2E83D-8D8F-4998-B536-BF6FD948BB40}"/>
              </a:ext>
            </a:extLst>
          </p:cNvPr>
          <p:cNvCxnSpPr/>
          <p:nvPr/>
        </p:nvCxnSpPr>
        <p:spPr>
          <a:xfrm>
            <a:off x="1360714" y="2318657"/>
            <a:ext cx="5720452" cy="0"/>
          </a:xfrm>
          <a:prstGeom prst="line">
            <a:avLst/>
          </a:prstGeom>
          <a:ln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36B9B813-E92D-4D30-BB39-124F19D22DCA}"/>
              </a:ext>
            </a:extLst>
          </p:cNvPr>
          <p:cNvCxnSpPr/>
          <p:nvPr/>
        </p:nvCxnSpPr>
        <p:spPr>
          <a:xfrm>
            <a:off x="1458686" y="2797629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1C7E364C-81A7-4346-9094-9F8B8DA2CDC1}"/>
              </a:ext>
            </a:extLst>
          </p:cNvPr>
          <p:cNvCxnSpPr/>
          <p:nvPr/>
        </p:nvCxnSpPr>
        <p:spPr>
          <a:xfrm>
            <a:off x="1360714" y="2852057"/>
            <a:ext cx="3167743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6806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4F649-8AA6-409E-BCE1-022AE6C3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825795"/>
          </a:xfrm>
        </p:spPr>
        <p:txBody>
          <a:bodyPr>
            <a:noAutofit/>
          </a:bodyPr>
          <a:lstStyle/>
          <a:p>
            <a:r>
              <a:rPr lang="pt-BR" sz="5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o que seria o barroco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114C745-9A4F-4FD7-8530-4C16EE1CA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3418" y="1435395"/>
            <a:ext cx="8596668" cy="2006306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 o barroco seria um movimento cultural e artístico que surgiu na Itália no final do século XVI e se espalhou pelo mundo até o século XVIII.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B3E3EB1-B1AB-4BCE-B181-8BEA0E10D458}"/>
              </a:ext>
            </a:extLst>
          </p:cNvPr>
          <p:cNvCxnSpPr/>
          <p:nvPr/>
        </p:nvCxnSpPr>
        <p:spPr>
          <a:xfrm>
            <a:off x="677335" y="1339702"/>
            <a:ext cx="793503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C8A54625-CEDA-4A17-BC30-81C29718979C}"/>
              </a:ext>
            </a:extLst>
          </p:cNvPr>
          <p:cNvCxnSpPr/>
          <p:nvPr/>
        </p:nvCxnSpPr>
        <p:spPr>
          <a:xfrm>
            <a:off x="677335" y="216549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732934BB-BB10-4CBF-81EA-CDD667085C68}"/>
              </a:ext>
            </a:extLst>
          </p:cNvPr>
          <p:cNvCxnSpPr/>
          <p:nvPr/>
        </p:nvCxnSpPr>
        <p:spPr>
          <a:xfrm>
            <a:off x="677335" y="2211572"/>
            <a:ext cx="8232749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CFCD7066-7FEA-4896-B58B-261DFBC08462}"/>
              </a:ext>
            </a:extLst>
          </p:cNvPr>
          <p:cNvCxnSpPr>
            <a:cxnSpLocks/>
          </p:cNvCxnSpPr>
          <p:nvPr/>
        </p:nvCxnSpPr>
        <p:spPr>
          <a:xfrm>
            <a:off x="1357818" y="3508744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BBA44BB1-135C-4DE7-B216-95B37D2BCF25}"/>
              </a:ext>
            </a:extLst>
          </p:cNvPr>
          <p:cNvCxnSpPr/>
          <p:nvPr/>
        </p:nvCxnSpPr>
        <p:spPr>
          <a:xfrm>
            <a:off x="510363" y="2604977"/>
            <a:ext cx="751721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B0E0C5F-14C2-405C-B64C-4F89509906DA}"/>
              </a:ext>
            </a:extLst>
          </p:cNvPr>
          <p:cNvCxnSpPr/>
          <p:nvPr/>
        </p:nvCxnSpPr>
        <p:spPr>
          <a:xfrm>
            <a:off x="443418" y="2955851"/>
            <a:ext cx="632952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5628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250">
        <p:push dir="u"/>
      </p:transition>
    </mc:Choice>
    <mc:Fallback>
      <p:transition spd="slow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9EDFA-BD9E-42E4-A6F2-0E6FA33DB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30" y="931677"/>
            <a:ext cx="4798993" cy="1278466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Imagem ilustrativa da arte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5FAA59-30B2-4FD6-B11D-26A88781F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0903" y="2362399"/>
            <a:ext cx="4266046" cy="2584449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</a:t>
            </a:r>
            <a:r>
              <a:rPr lang="pt-BR" b="1" dirty="0">
                <a:latin typeface="Algerian" panose="04020705040A02060702" pitchFamily="82" charset="0"/>
              </a:rPr>
              <a:t> 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arte barroca foca no </a:t>
            </a:r>
            <a:r>
              <a:rPr lang="pt-BR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drama e na </a:t>
            </a:r>
          </a:p>
          <a:p>
            <a:r>
              <a:rPr lang="pt-BR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 emoção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, utilizando o forte contraste de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</a:t>
            </a:r>
            <a:r>
              <a:rPr lang="pt-BR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luz e sombra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(</a:t>
            </a:r>
            <a:r>
              <a:rPr lang="pt-BR" b="1" i="1" u="none" strike="noStrike" dirty="0" err="1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chiaroscuro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) para criar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impacto. Suas obras priorizam o </a:t>
            </a:r>
            <a:r>
              <a:rPr lang="pt-BR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movimento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,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o realismo detalhado e as expressões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intensas para emocionar o espectador.</a:t>
            </a:r>
          </a:p>
        </p:txBody>
      </p:sp>
      <p:pic>
        <p:nvPicPr>
          <p:cNvPr id="1026" name="Picture 2" descr="O Período Barroco na Arte Europeia: Grandes Mestres e Suas ...">
            <a:extLst>
              <a:ext uri="{FF2B5EF4-FFF2-40B4-BE49-F238E27FC236}">
                <a16:creationId xmlns:a16="http://schemas.microsoft.com/office/drawing/2014/main" id="{64E37752-7238-443A-B97F-F6A5C15A4A5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4810" y="514313"/>
            <a:ext cx="4118117" cy="582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3C4C1040-91E2-42E5-A978-9AC50CBE18FA}"/>
              </a:ext>
            </a:extLst>
          </p:cNvPr>
          <p:cNvCxnSpPr/>
          <p:nvPr/>
        </p:nvCxnSpPr>
        <p:spPr>
          <a:xfrm>
            <a:off x="5064810" y="514313"/>
            <a:ext cx="4118117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AFE286AF-0983-472A-9E32-59BB1114B8F5}"/>
              </a:ext>
            </a:extLst>
          </p:cNvPr>
          <p:cNvCxnSpPr>
            <a:cxnSpLocks/>
          </p:cNvCxnSpPr>
          <p:nvPr/>
        </p:nvCxnSpPr>
        <p:spPr>
          <a:xfrm>
            <a:off x="5064810" y="514313"/>
            <a:ext cx="0" cy="5829374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04117008-058B-4950-B2C3-0EBDC7703818}"/>
              </a:ext>
            </a:extLst>
          </p:cNvPr>
          <p:cNvCxnSpPr/>
          <p:nvPr/>
        </p:nvCxnSpPr>
        <p:spPr>
          <a:xfrm>
            <a:off x="9182927" y="495019"/>
            <a:ext cx="0" cy="5829374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C9650D09-3B2E-4A1D-A247-AFF9F3A05A2C}"/>
              </a:ext>
            </a:extLst>
          </p:cNvPr>
          <p:cNvCxnSpPr/>
          <p:nvPr/>
        </p:nvCxnSpPr>
        <p:spPr>
          <a:xfrm>
            <a:off x="5064809" y="6343687"/>
            <a:ext cx="4118117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CC002CD9-2452-4F4C-AD0C-8350BA84C1C3}"/>
              </a:ext>
            </a:extLst>
          </p:cNvPr>
          <p:cNvCxnSpPr/>
          <p:nvPr/>
        </p:nvCxnSpPr>
        <p:spPr>
          <a:xfrm>
            <a:off x="74430" y="2105247"/>
            <a:ext cx="4625161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93466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250">
        <p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Facetado">
  <a:themeElements>
    <a:clrScheme name="Personalizada 1">
      <a:dk1>
        <a:srgbClr val="73320B"/>
      </a:dk1>
      <a:lt1>
        <a:sysClr val="window" lastClr="FFFFFF"/>
      </a:lt1>
      <a:dk2>
        <a:srgbClr val="2C3C43"/>
      </a:dk2>
      <a:lt2>
        <a:srgbClr val="EBEBEB"/>
      </a:lt2>
      <a:accent1>
        <a:srgbClr val="73320B"/>
      </a:accent1>
      <a:accent2>
        <a:srgbClr val="73320B"/>
      </a:accent2>
      <a:accent3>
        <a:srgbClr val="73320B"/>
      </a:accent3>
      <a:accent4>
        <a:srgbClr val="73320B"/>
      </a:accent4>
      <a:accent5>
        <a:srgbClr val="73320B"/>
      </a:accent5>
      <a:accent6>
        <a:srgbClr val="73320B"/>
      </a:accent6>
      <a:hlink>
        <a:srgbClr val="755D0C"/>
      </a:hlink>
      <a:folHlink>
        <a:srgbClr val="73320B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70</TotalTime>
  <Words>90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Algerian</vt:lpstr>
      <vt:lpstr>Arial</vt:lpstr>
      <vt:lpstr>Trebuchet MS</vt:lpstr>
      <vt:lpstr>Wingdings 3</vt:lpstr>
      <vt:lpstr>Facetado</vt:lpstr>
      <vt:lpstr> Barroco</vt:lpstr>
      <vt:lpstr>o que seria o barroco</vt:lpstr>
      <vt:lpstr>Imagem ilustrativa da arte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Barroco</dc:title>
  <dc:creator>Aluno</dc:creator>
  <cp:lastModifiedBy>Aluno</cp:lastModifiedBy>
  <cp:revision>1</cp:revision>
  <dcterms:created xsi:type="dcterms:W3CDTF">2026-05-11T17:50:15Z</dcterms:created>
  <dcterms:modified xsi:type="dcterms:W3CDTF">2026-05-11T19:00:48Z</dcterms:modified>
</cp:coreProperties>
</file>