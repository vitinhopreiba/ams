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345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96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1971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8846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785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29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845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373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837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75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5212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240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177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053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675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35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D702A-A8EF-457F-BAD4-84D51B465407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920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F746D-9983-4797-A066-D9917211B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85770" y="1189579"/>
            <a:ext cx="7766936" cy="1424595"/>
          </a:xfrm>
        </p:spPr>
        <p:txBody>
          <a:bodyPr/>
          <a:lstStyle/>
          <a:p>
            <a:r>
              <a:rPr lang="pt-BR" sz="6600" dirty="0"/>
              <a:t>	</a:t>
            </a:r>
            <a:r>
              <a:rPr lang="pt-BR" sz="9600" b="1" i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Barroco</a:t>
            </a:r>
            <a:endParaRPr lang="pt-BR" sz="6600" b="1" i="1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85AAF9-6C54-4437-9DD0-799BC805B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123412" y="2483546"/>
            <a:ext cx="7766936" cy="1096899"/>
          </a:xfrm>
        </p:spPr>
        <p:txBody>
          <a:bodyPr>
            <a:normAutofit/>
          </a:bodyPr>
          <a:lstStyle/>
          <a:p>
            <a:r>
              <a:rPr lang="pt-BR" sz="24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A arte com as mãos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B39F40F-343E-4FAC-A78F-474FC5D8B7F2}"/>
              </a:ext>
            </a:extLst>
          </p:cNvPr>
          <p:cNvCxnSpPr/>
          <p:nvPr/>
        </p:nvCxnSpPr>
        <p:spPr>
          <a:xfrm>
            <a:off x="10657114" y="6629400"/>
            <a:ext cx="1143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7D2E83D-8D8F-4998-B536-BF6FD948BB40}"/>
              </a:ext>
            </a:extLst>
          </p:cNvPr>
          <p:cNvCxnSpPr/>
          <p:nvPr/>
        </p:nvCxnSpPr>
        <p:spPr>
          <a:xfrm>
            <a:off x="1360714" y="2318657"/>
            <a:ext cx="5720452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6B9B813-E92D-4D30-BB39-124F19D22DCA}"/>
              </a:ext>
            </a:extLst>
          </p:cNvPr>
          <p:cNvCxnSpPr/>
          <p:nvPr/>
        </p:nvCxnSpPr>
        <p:spPr>
          <a:xfrm>
            <a:off x="1458686" y="279762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1C7E364C-81A7-4346-9094-9F8B8DA2CDC1}"/>
              </a:ext>
            </a:extLst>
          </p:cNvPr>
          <p:cNvCxnSpPr/>
          <p:nvPr/>
        </p:nvCxnSpPr>
        <p:spPr>
          <a:xfrm>
            <a:off x="1360714" y="2852057"/>
            <a:ext cx="316774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6806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4F649-8AA6-409E-BCE1-022AE6C3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825795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o que seria o barroco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14C745-9A4F-4FD7-8530-4C16EE1CA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3418" y="1435395"/>
            <a:ext cx="8596668" cy="2006306"/>
          </a:xfrm>
        </p:spPr>
        <p:txBody>
          <a:bodyPr>
            <a:normAutofit/>
          </a:bodyPr>
          <a:lstStyle/>
          <a:p>
            <a:r>
              <a:rPr lang="pt-BR" sz="24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  o barroco seria um movimento cultural e artístico que surgiu na Itália no final do século XVI e se espalhou pelo mundo até o século XVIII.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B3E3EB1-B1AB-4BCE-B181-8BEA0E10D458}"/>
              </a:ext>
            </a:extLst>
          </p:cNvPr>
          <p:cNvCxnSpPr/>
          <p:nvPr/>
        </p:nvCxnSpPr>
        <p:spPr>
          <a:xfrm>
            <a:off x="677335" y="1339702"/>
            <a:ext cx="793503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C8A54625-CEDA-4A17-BC30-81C29718979C}"/>
              </a:ext>
            </a:extLst>
          </p:cNvPr>
          <p:cNvCxnSpPr/>
          <p:nvPr/>
        </p:nvCxnSpPr>
        <p:spPr>
          <a:xfrm>
            <a:off x="677335" y="216549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32934BB-BB10-4CBF-81EA-CDD667085C68}"/>
              </a:ext>
            </a:extLst>
          </p:cNvPr>
          <p:cNvCxnSpPr/>
          <p:nvPr/>
        </p:nvCxnSpPr>
        <p:spPr>
          <a:xfrm>
            <a:off x="677335" y="2211572"/>
            <a:ext cx="823274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CFCD7066-7FEA-4896-B58B-261DFBC08462}"/>
              </a:ext>
            </a:extLst>
          </p:cNvPr>
          <p:cNvCxnSpPr>
            <a:cxnSpLocks/>
          </p:cNvCxnSpPr>
          <p:nvPr/>
        </p:nvCxnSpPr>
        <p:spPr>
          <a:xfrm>
            <a:off x="1357818" y="350874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BBA44BB1-135C-4DE7-B216-95B37D2BCF25}"/>
              </a:ext>
            </a:extLst>
          </p:cNvPr>
          <p:cNvCxnSpPr/>
          <p:nvPr/>
        </p:nvCxnSpPr>
        <p:spPr>
          <a:xfrm>
            <a:off x="510363" y="2604977"/>
            <a:ext cx="75172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0E0C5F-14C2-405C-B64C-4F89509906DA}"/>
              </a:ext>
            </a:extLst>
          </p:cNvPr>
          <p:cNvCxnSpPr/>
          <p:nvPr/>
        </p:nvCxnSpPr>
        <p:spPr>
          <a:xfrm>
            <a:off x="443418" y="2955851"/>
            <a:ext cx="63295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56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9EDFA-BD9E-42E4-A6F2-0E6FA33DB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07" y="105103"/>
            <a:ext cx="4798993" cy="2000144"/>
          </a:xfrm>
        </p:spPr>
        <p:txBody>
          <a:bodyPr>
            <a:normAutofit/>
          </a:bodyPr>
          <a:lstStyle/>
          <a:p>
            <a:r>
              <a:rPr lang="pt-BR" sz="24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Imagem ilustrativa da </a:t>
            </a:r>
            <a:r>
              <a:rPr lang="pt-BR" sz="2400" b="1" dirty="0" smtClean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arte                 </a:t>
            </a:r>
            <a:br>
              <a:rPr lang="pt-BR" sz="2400" b="1" dirty="0" smtClean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</a:br>
            <a:r>
              <a:rPr lang="pt-BR" sz="2400" b="1" dirty="0" smtClean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                </a:t>
            </a:r>
            <a:r>
              <a:rPr lang="pt-BR" sz="3200" b="1" dirty="0" smtClean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barroca</a:t>
            </a:r>
            <a:endParaRPr lang="pt-BR" sz="3200" b="1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5FAA59-30B2-4FD6-B11D-26A88781F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903" y="2362399"/>
            <a:ext cx="4266046" cy="2584449"/>
          </a:xfrm>
        </p:spPr>
        <p:txBody>
          <a:bodyPr/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A</a:t>
            </a:r>
            <a:r>
              <a:rPr lang="pt-BR" b="1" dirty="0">
                <a:latin typeface="Algerian" panose="04020705040A02060702" pitchFamily="82" charset="0"/>
              </a:rPr>
              <a:t> 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arte barroca foca no </a:t>
            </a:r>
            <a:r>
              <a:rPr lang="pt-BR" b="1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Algerian" panose="04020705040A02060702" pitchFamily="82" charset="0"/>
              </a:rPr>
              <a:t>drama e na </a:t>
            </a:r>
          </a:p>
          <a:p>
            <a:r>
              <a:rPr lang="pt-BR" b="1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Algerian" panose="04020705040A02060702" pitchFamily="82" charset="0"/>
              </a:rPr>
              <a:t> emoção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, utilizando o forte contraste de</a:t>
            </a:r>
          </a:p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lang="pt-BR" b="1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Algerian" panose="04020705040A02060702" pitchFamily="82" charset="0"/>
              </a:rPr>
              <a:t>luz e sombra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 (</a:t>
            </a:r>
            <a:r>
              <a:rPr lang="pt-BR" b="1" i="1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Algerian" panose="04020705040A02060702" pitchFamily="82" charset="0"/>
              </a:rPr>
              <a:t>chiaroscuro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) para criar </a:t>
            </a:r>
          </a:p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impacto. Suas obras priorizam o </a:t>
            </a:r>
            <a:r>
              <a:rPr lang="pt-BR" b="1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Algerian" panose="04020705040A02060702" pitchFamily="82" charset="0"/>
              </a:rPr>
              <a:t>movimento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,</a:t>
            </a:r>
          </a:p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 o realismo detalhado e as expressões </a:t>
            </a:r>
          </a:p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intensas para emocionar o espectador.</a:t>
            </a:r>
          </a:p>
        </p:txBody>
      </p:sp>
      <p:pic>
        <p:nvPicPr>
          <p:cNvPr id="1026" name="Picture 2" descr="O Período Barroco na Arte Europeia: Grandes Mestres e Suas ...">
            <a:extLst>
              <a:ext uri="{FF2B5EF4-FFF2-40B4-BE49-F238E27FC236}">
                <a16:creationId xmlns:a16="http://schemas.microsoft.com/office/drawing/2014/main" id="{64E37752-7238-443A-B97F-F6A5C15A4A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810" y="514313"/>
            <a:ext cx="4118117" cy="582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C4C1040-91E2-42E5-A978-9AC50CBE18FA}"/>
              </a:ext>
            </a:extLst>
          </p:cNvPr>
          <p:cNvCxnSpPr/>
          <p:nvPr/>
        </p:nvCxnSpPr>
        <p:spPr>
          <a:xfrm>
            <a:off x="5064810" y="514313"/>
            <a:ext cx="4118117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AFE286AF-0983-472A-9E32-59BB1114B8F5}"/>
              </a:ext>
            </a:extLst>
          </p:cNvPr>
          <p:cNvCxnSpPr>
            <a:cxnSpLocks/>
          </p:cNvCxnSpPr>
          <p:nvPr/>
        </p:nvCxnSpPr>
        <p:spPr>
          <a:xfrm>
            <a:off x="5064810" y="514313"/>
            <a:ext cx="0" cy="5829374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04117008-058B-4950-B2C3-0EBDC7703818}"/>
              </a:ext>
            </a:extLst>
          </p:cNvPr>
          <p:cNvCxnSpPr/>
          <p:nvPr/>
        </p:nvCxnSpPr>
        <p:spPr>
          <a:xfrm>
            <a:off x="9182927" y="495019"/>
            <a:ext cx="0" cy="5829374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C9650D09-3B2E-4A1D-A247-AFF9F3A05A2C}"/>
              </a:ext>
            </a:extLst>
          </p:cNvPr>
          <p:cNvCxnSpPr/>
          <p:nvPr/>
        </p:nvCxnSpPr>
        <p:spPr>
          <a:xfrm>
            <a:off x="5064809" y="6343687"/>
            <a:ext cx="4118117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CC002CD9-2452-4F4C-AD0C-8350BA84C1C3}"/>
              </a:ext>
            </a:extLst>
          </p:cNvPr>
          <p:cNvCxnSpPr/>
          <p:nvPr/>
        </p:nvCxnSpPr>
        <p:spPr>
          <a:xfrm>
            <a:off x="74430" y="2105247"/>
            <a:ext cx="4625161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3466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Arredondado 23"/>
          <p:cNvSpPr/>
          <p:nvPr/>
        </p:nvSpPr>
        <p:spPr>
          <a:xfrm>
            <a:off x="483476" y="2921875"/>
            <a:ext cx="4077651" cy="343688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5105259" y="1229710"/>
            <a:ext cx="4932119" cy="4319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6599" y="514924"/>
            <a:ext cx="3854528" cy="1278466"/>
          </a:xfrm>
        </p:spPr>
        <p:txBody>
          <a:bodyPr>
            <a:normAutofit/>
          </a:bodyPr>
          <a:lstStyle/>
          <a:p>
            <a:r>
              <a:rPr lang="pt-BR" b="1" dirty="0" smtClean="0">
                <a:latin typeface="Algerian" panose="04020705040A02060702" pitchFamily="82" charset="0"/>
              </a:rPr>
              <a:t>      </a:t>
            </a:r>
            <a:r>
              <a:rPr lang="pt-BR" dirty="0" smtClean="0">
                <a:latin typeface="Algerian" panose="04020705040A02060702" pitchFamily="82" charset="0"/>
              </a:rPr>
              <a:t>Importância da arte </a:t>
            </a:r>
            <a:r>
              <a:rPr lang="pt-BR" b="1" dirty="0" smtClean="0">
                <a:latin typeface="Algerian" panose="04020705040A02060702" pitchFamily="82" charset="0"/>
              </a:rPr>
              <a:t/>
            </a:r>
            <a:br>
              <a:rPr lang="pt-BR" b="1" dirty="0" smtClean="0">
                <a:latin typeface="Algerian" panose="04020705040A02060702" pitchFamily="82" charset="0"/>
              </a:rPr>
            </a:br>
            <a:r>
              <a:rPr lang="pt-BR" sz="2400" b="1" dirty="0">
                <a:latin typeface="Algerian" panose="04020705040A02060702" pitchFamily="82" charset="0"/>
              </a:rPr>
              <a:t> </a:t>
            </a:r>
            <a:r>
              <a:rPr lang="pt-BR" sz="2400" b="1" dirty="0" smtClean="0">
                <a:latin typeface="Algerian" panose="04020705040A02060702" pitchFamily="82" charset="0"/>
              </a:rPr>
              <a:t>               Barroca</a:t>
            </a:r>
            <a:endParaRPr lang="pt-BR" b="1" dirty="0">
              <a:latin typeface="Algerian" panose="04020705040A02060702" pitchFamily="82" charset="0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68791" y="3093621"/>
            <a:ext cx="3892336" cy="3475345"/>
          </a:xfrm>
        </p:spPr>
        <p:txBody>
          <a:bodyPr>
            <a:noAutofit/>
          </a:bodyPr>
          <a:lstStyle/>
          <a:p>
            <a:r>
              <a:rPr lang="pt-BR" sz="1800" b="1" dirty="0">
                <a:solidFill>
                  <a:schemeClr val="tx1">
                    <a:lumMod val="75000"/>
                  </a:schemeClr>
                </a:solidFill>
                <a:latin typeface="Algerian" panose="04020705040A02060702" pitchFamily="82" charset="0"/>
              </a:rPr>
              <a:t>foi fundamental por atuar como uma poderosa ferramenta de comunicação visual e política no século XVII. Desenvolvida no contexto da Contrarreforma Católica, ela buscava emocionar os fiéis e reafirmar o poder da Igreja por meio de contraste, dramaticidade e riqueza de detalhes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B0E0C5F-14C2-405C-B64C-4F89509906DA}"/>
              </a:ext>
            </a:extLst>
          </p:cNvPr>
          <p:cNvCxnSpPr/>
          <p:nvPr/>
        </p:nvCxnSpPr>
        <p:spPr>
          <a:xfrm>
            <a:off x="1250731" y="1387365"/>
            <a:ext cx="26906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B0E0C5F-14C2-405C-B64C-4F89509906DA}"/>
              </a:ext>
            </a:extLst>
          </p:cNvPr>
          <p:cNvCxnSpPr/>
          <p:nvPr/>
        </p:nvCxnSpPr>
        <p:spPr>
          <a:xfrm>
            <a:off x="2049518" y="1713187"/>
            <a:ext cx="139787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Arte barroca no Brasil – HiSoUR Arte Cultura Exposição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879" y="1261242"/>
            <a:ext cx="4822878" cy="4256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89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ado">
  <a:themeElements>
    <a:clrScheme name="Personalizada 1">
      <a:dk1>
        <a:srgbClr val="73320B"/>
      </a:dk1>
      <a:lt1>
        <a:sysClr val="window" lastClr="FFFFFF"/>
      </a:lt1>
      <a:dk2>
        <a:srgbClr val="2C3C43"/>
      </a:dk2>
      <a:lt2>
        <a:srgbClr val="EBEBEB"/>
      </a:lt2>
      <a:accent1>
        <a:srgbClr val="73320B"/>
      </a:accent1>
      <a:accent2>
        <a:srgbClr val="73320B"/>
      </a:accent2>
      <a:accent3>
        <a:srgbClr val="73320B"/>
      </a:accent3>
      <a:accent4>
        <a:srgbClr val="73320B"/>
      </a:accent4>
      <a:accent5>
        <a:srgbClr val="73320B"/>
      </a:accent5>
      <a:accent6>
        <a:srgbClr val="73320B"/>
      </a:accent6>
      <a:hlink>
        <a:srgbClr val="755D0C"/>
      </a:hlink>
      <a:folHlink>
        <a:srgbClr val="73320B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110</TotalTime>
  <Words>137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Algerian</vt:lpstr>
      <vt:lpstr>Arial</vt:lpstr>
      <vt:lpstr>Trebuchet MS</vt:lpstr>
      <vt:lpstr>Wingdings 3</vt:lpstr>
      <vt:lpstr>Facetado</vt:lpstr>
      <vt:lpstr> Barroco</vt:lpstr>
      <vt:lpstr>o que seria o barroco</vt:lpstr>
      <vt:lpstr>Imagem ilustrativa da arte                                  barroca</vt:lpstr>
      <vt:lpstr>      Importância da arte                  Barroca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Barroco</dc:title>
  <dc:creator>Aluno</dc:creator>
  <cp:lastModifiedBy>PC6-L5</cp:lastModifiedBy>
  <cp:revision>6</cp:revision>
  <dcterms:created xsi:type="dcterms:W3CDTF">2026-05-11T17:50:15Z</dcterms:created>
  <dcterms:modified xsi:type="dcterms:W3CDTF">2026-05-21T17:39:45Z</dcterms:modified>
</cp:coreProperties>
</file>