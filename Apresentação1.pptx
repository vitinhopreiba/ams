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1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9121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2386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5121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8159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4101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1852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5347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8836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307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3312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78413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315161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566325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0336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52234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741445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5511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15994-77A6-48B3-AFF4-2AF8E21592A1}" type="datetimeFigureOut">
              <a:rPr lang="pt-BR" smtClean="0"/>
              <a:t>31/03/2026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9421DB-9EEC-43C5-B871-F03FF77FCB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90648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95CFFF-90C1-29D5-B55C-C04F71C88B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3376" y="0"/>
            <a:ext cx="10145247" cy="2387600"/>
          </a:xfrm>
        </p:spPr>
        <p:txBody>
          <a:bodyPr/>
          <a:lstStyle/>
          <a:p>
            <a:r>
              <a:rPr lang="pt-BR" dirty="0"/>
              <a:t>	</a:t>
            </a:r>
            <a:r>
              <a:rPr lang="pt-BR" sz="60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Segurança na internet</a:t>
            </a:r>
            <a:endParaRPr lang="pt-BR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2E6FEFE-C10D-F6D3-3E38-A062D50CB9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19859" y="2387600"/>
            <a:ext cx="8791575" cy="1655762"/>
          </a:xfrm>
        </p:spPr>
        <p:txBody>
          <a:bodyPr>
            <a:normAutofit/>
          </a:bodyPr>
          <a:lstStyle/>
          <a:p>
            <a:r>
              <a:rPr lang="pt-BR" sz="2400" b="1" dirty="0">
                <a:solidFill>
                  <a:schemeClr val="tx2">
                    <a:lumMod val="20000"/>
                    <a:lumOff val="80000"/>
                  </a:schemeClr>
                </a:solidFill>
              </a:rPr>
              <a:t>O futuro é conectado</a:t>
            </a:r>
          </a:p>
        </p:txBody>
      </p:sp>
    </p:spTree>
    <p:extLst>
      <p:ext uri="{BB962C8B-B14F-4D97-AF65-F5344CB8AC3E}">
        <p14:creationId xmlns:p14="http://schemas.microsoft.com/office/powerpoint/2010/main" val="19657357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4C9191-7691-4792-7329-BF3D9FD1E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b="0" i="0" dirty="0">
                <a:solidFill>
                  <a:srgbClr val="E6E8F0"/>
                </a:solidFill>
                <a:effectLst/>
                <a:latin typeface="Google Sans"/>
              </a:rPr>
              <a:t> </a:t>
            </a:r>
            <a:r>
              <a:rPr lang="pt-BR" sz="4400" b="1" i="0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cyberbullying</a:t>
            </a:r>
            <a:r>
              <a:rPr lang="pt-BR" sz="4400" b="1" i="0" dirty="0">
                <a:solidFill>
                  <a:schemeClr val="bg2"/>
                </a:solidFill>
                <a:effectLst/>
                <a:latin typeface="Google Sans"/>
              </a:rPr>
              <a:t> </a:t>
            </a:r>
            <a:endParaRPr lang="pt-BR" b="1" dirty="0">
              <a:solidFill>
                <a:schemeClr val="bg2"/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26D55D-CD3E-D1A7-7679-6813CAD49E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0523"/>
            <a:ext cx="9905999" cy="3541714"/>
          </a:xfrm>
        </p:spPr>
        <p:txBody>
          <a:bodyPr>
            <a:normAutofit lnSpcReduction="10000"/>
          </a:bodyPr>
          <a:lstStyle/>
          <a:p>
            <a:pPr algn="l"/>
            <a:r>
              <a:rPr lang="pt-BR" b="1" i="0" dirty="0">
                <a:solidFill>
                  <a:srgbClr val="E6E8F0"/>
                </a:solidFill>
                <a:effectLst/>
                <a:latin typeface="Google Sans"/>
              </a:rPr>
              <a:t>   O cyberbullying é usar redes sociais,</a:t>
            </a:r>
            <a:br>
              <a:rPr lang="pt-BR" b="1" i="0" dirty="0">
                <a:solidFill>
                  <a:srgbClr val="E6E8F0"/>
                </a:solidFill>
                <a:effectLst/>
                <a:latin typeface="Google Sans"/>
              </a:rPr>
            </a:br>
            <a:r>
              <a:rPr lang="pt-BR" b="1" i="0" dirty="0">
                <a:solidFill>
                  <a:srgbClr val="E6E8F0"/>
                </a:solidFill>
                <a:effectLst/>
                <a:latin typeface="Google Sans"/>
              </a:rPr>
              <a:t>para ofender e também humilhar pessoas.</a:t>
            </a:r>
            <a:br>
              <a:rPr lang="pt-BR" b="1" i="0" dirty="0">
                <a:solidFill>
                  <a:srgbClr val="E6E8F0"/>
                </a:solidFill>
                <a:effectLst/>
                <a:latin typeface="Google Sans"/>
              </a:rPr>
            </a:br>
            <a:r>
              <a:rPr lang="pt-BR" b="1" i="0" dirty="0">
                <a:solidFill>
                  <a:srgbClr val="E6E8F0"/>
                </a:solidFill>
                <a:effectLst/>
                <a:latin typeface="Google Sans"/>
              </a:rPr>
              <a:t>Causa grandes danos ao bem estar,</a:t>
            </a:r>
            <a:br>
              <a:rPr lang="pt-BR" b="1" i="0" dirty="0">
                <a:solidFill>
                  <a:srgbClr val="E6E8F0"/>
                </a:solidFill>
                <a:effectLst/>
                <a:latin typeface="Google Sans"/>
              </a:rPr>
            </a:br>
            <a:r>
              <a:rPr lang="pt-BR" b="1" i="0" dirty="0">
                <a:solidFill>
                  <a:srgbClr val="E6E8F0"/>
                </a:solidFill>
                <a:effectLst/>
                <a:latin typeface="Google Sans"/>
              </a:rPr>
              <a:t>gerando tristeza e muita dor emocional.</a:t>
            </a:r>
            <a:br>
              <a:rPr lang="pt-BR" b="1" i="0" dirty="0">
                <a:solidFill>
                  <a:srgbClr val="E6E8F0"/>
                </a:solidFill>
                <a:effectLst/>
                <a:latin typeface="Google Sans"/>
              </a:rPr>
            </a:br>
            <a:r>
              <a:rPr lang="pt-BR" b="1" i="0" dirty="0">
                <a:solidFill>
                  <a:srgbClr val="E6E8F0"/>
                </a:solidFill>
                <a:effectLst/>
                <a:latin typeface="Google Sans"/>
              </a:rPr>
              <a:t>Denunciar ajuda a combater esse mal,</a:t>
            </a:r>
            <a:br>
              <a:rPr lang="pt-BR" b="1" i="0" dirty="0">
                <a:solidFill>
                  <a:srgbClr val="E6E8F0"/>
                </a:solidFill>
                <a:effectLst/>
                <a:latin typeface="Google Sans"/>
              </a:rPr>
            </a:br>
            <a:r>
              <a:rPr lang="pt-BR" b="1" i="0" dirty="0">
                <a:solidFill>
                  <a:srgbClr val="E6E8F0"/>
                </a:solidFill>
                <a:effectLst/>
                <a:latin typeface="Google Sans"/>
              </a:rPr>
              <a:t>promovendo respeito no mundo digital hoje.</a:t>
            </a:r>
          </a:p>
          <a:p>
            <a:pPr marL="0" indent="0">
              <a:buNone/>
            </a:pPr>
            <a:br>
              <a:rPr lang="pt-BR" b="1" dirty="0"/>
            </a:b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4535177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500">
        <p:checker dir="vert"/>
      </p:transition>
    </mc:Choice>
    <mc:Fallback>
      <p:transition spd="slow">
        <p:checker dir="vert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15B227-5E82-A4E1-2127-A30B2601F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0235" y="246857"/>
            <a:ext cx="5865686" cy="1639886"/>
          </a:xfrm>
        </p:spPr>
        <p:txBody>
          <a:bodyPr>
            <a:normAutofit/>
          </a:bodyPr>
          <a:lstStyle/>
          <a:p>
            <a:pPr algn="just"/>
            <a:r>
              <a:rPr lang="pt-BR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Formas</a:t>
            </a:r>
            <a:r>
              <a:rPr lang="pt-BR" b="1" dirty="0">
                <a:solidFill>
                  <a:schemeClr val="bg2"/>
                </a:solidFill>
              </a:rPr>
              <a:t> </a:t>
            </a:r>
            <a:r>
              <a:rPr lang="pt-BR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</a:t>
            </a:r>
            <a:r>
              <a:rPr lang="pt-BR" b="1" dirty="0">
                <a:solidFill>
                  <a:schemeClr val="bg2"/>
                </a:solidFill>
              </a:rPr>
              <a:t> </a:t>
            </a:r>
            <a:r>
              <a:rPr lang="pt-BR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prevenir o “</a:t>
            </a:r>
            <a:r>
              <a:rPr lang="pt-BR" sz="3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cyberbullying</a:t>
            </a:r>
            <a:r>
              <a:rPr lang="pt-BR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”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725DBEE-0904-4052-03BF-C8EA2D2A4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33834" y="2249485"/>
            <a:ext cx="5934511" cy="3541714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E6E8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 Controle da Privacidade</a:t>
            </a:r>
            <a:endParaRPr lang="pt-BR" b="1" i="0" dirty="0">
              <a:solidFill>
                <a:srgbClr val="E6E8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oogle Sans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E6E8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 Proteção de Senhas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2800" b="1" i="0" dirty="0">
                <a:solidFill>
                  <a:srgbClr val="E6E8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 Cuidado com Exposições</a:t>
            </a:r>
            <a:endParaRPr lang="pt-BR" sz="2800" b="0" i="0" dirty="0">
              <a:solidFill>
                <a:srgbClr val="E6E8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pt-BR" sz="2800" b="1" dirty="0">
                <a:solidFill>
                  <a:srgbClr val="E6E8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 </a:t>
            </a:r>
            <a:r>
              <a:rPr lang="pt-BR" sz="2800" b="1" i="0" dirty="0">
                <a:solidFill>
                  <a:srgbClr val="E6E8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Filtro de Amizades</a:t>
            </a:r>
            <a:endParaRPr lang="pt-BR" sz="2800" dirty="0"/>
          </a:p>
        </p:txBody>
      </p:sp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7681968C-0AF0-6B31-721C-8990F23146BE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pic>
        <p:nvPicPr>
          <p:cNvPr id="2054" name="Picture 6" descr="Vetores de Cyber bullying - Baixe vetores grátis de alta qualidade do  Freepik | Freepik">
            <a:extLst>
              <a:ext uri="{FF2B5EF4-FFF2-40B4-BE49-F238E27FC236}">
                <a16:creationId xmlns:a16="http://schemas.microsoft.com/office/drawing/2014/main" id="{A14ADC18-8D91-8099-7401-447F89EA0D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0721" y="609600"/>
            <a:ext cx="3666689" cy="5181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23502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500">
        <p:checker dir="vert"/>
      </p:transition>
    </mc:Choice>
    <mc:Fallback>
      <p:transition spd="slow">
        <p:checker dir="vert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CE486-AD31-6A91-8480-F22A1C0AD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0" y="609600"/>
            <a:ext cx="9906001" cy="1905000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bg2"/>
                </a:solidFill>
              </a:rPr>
              <a:t>                </a:t>
            </a:r>
            <a:r>
              <a:rPr lang="pt-BR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CARACTERISTICAS  sobre o</a:t>
            </a:r>
            <a:br>
              <a:rPr lang="pt-BR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pt-BR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                    “</a:t>
            </a:r>
            <a:r>
              <a:rPr lang="pt-BR" sz="44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CYBERBULLYING”</a:t>
            </a:r>
            <a:endParaRPr lang="pt-BR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9D3893A-1E86-CED9-4147-CECA839A8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/>
          <a:lstStyle/>
          <a:p>
            <a:r>
              <a:rPr lang="pt-BR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SINAIS DE ALERTA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6FE34E-5674-6934-E21B-06B9C1E6221D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pt-BR" dirty="0">
                <a:latin typeface="Google Sans"/>
              </a:rPr>
              <a:t> Isolamento social e desânimo constante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i="0" dirty="0">
                <a:effectLst/>
                <a:latin typeface="Google Sans"/>
              </a:rPr>
              <a:t> Irritabilidade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i="0" dirty="0">
                <a:effectLst/>
                <a:latin typeface="Google Sans"/>
              </a:rPr>
              <a:t> Queda no rendimento escolar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>
                <a:latin typeface="Google Sans"/>
              </a:rPr>
              <a:t> Alteraçõe</a:t>
            </a:r>
            <a:r>
              <a:rPr lang="pt-BR" i="0" dirty="0">
                <a:effectLst/>
                <a:latin typeface="Google Sans"/>
              </a:rPr>
              <a:t>s no sono e queixas físicas (dores de cabeça/náuseas</a:t>
            </a:r>
          </a:p>
          <a:p>
            <a:endParaRPr lang="pt-BR"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A095412-50F8-DEF5-9E24-4CCCF97520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Perfil e impacto</a:t>
            </a:r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A3D247A9-0E1A-8CFF-ABAA-B1DFA5EF20E1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pt-BR" i="0" dirty="0">
                <a:solidFill>
                  <a:srgbClr val="E6E8F0"/>
                </a:solidFill>
                <a:effectLst/>
                <a:latin typeface="Google Sans"/>
              </a:rPr>
              <a:t> </a:t>
            </a:r>
            <a:r>
              <a:rPr lang="pt-BR" b="1" i="0" dirty="0">
                <a:solidFill>
                  <a:srgbClr val="E6E8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Alvos Frequentes</a:t>
            </a:r>
            <a:r>
              <a:rPr lang="pt-BR" i="0" dirty="0">
                <a:solidFill>
                  <a:srgbClr val="E6E8F0"/>
                </a:solidFill>
                <a:effectLst/>
                <a:latin typeface="Google Sans"/>
              </a:rPr>
              <a:t>: Adolescentes entre 12 e 14 anos, meninas, população LGBTQIA+ e pessoas negras, muitas vezes acompanhando racismo, homofobia ou misoginia </a:t>
            </a:r>
          </a:p>
          <a:p>
            <a:r>
              <a:rPr lang="pt-BR" b="1" i="0" dirty="0">
                <a:solidFill>
                  <a:srgbClr val="E6E8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Motivos Comuns</a:t>
            </a:r>
            <a:r>
              <a:rPr lang="pt-BR" b="1" i="0" dirty="0">
                <a:solidFill>
                  <a:srgbClr val="E6E8F0"/>
                </a:solidFill>
                <a:effectLst/>
                <a:latin typeface="Google Sans"/>
              </a:rPr>
              <a:t>:</a:t>
            </a:r>
            <a:r>
              <a:rPr lang="pt-BR" b="0" i="0" dirty="0">
                <a:solidFill>
                  <a:srgbClr val="E6E8F0"/>
                </a:solidFill>
                <a:effectLst/>
                <a:latin typeface="Google Sans"/>
              </a:rPr>
              <a:t> Aparência física (rosto, cabelo, corpo), cor, raça, ou roupas</a:t>
            </a:r>
            <a:endParaRPr lang="pt-BR" dirty="0"/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4169E1EC-7C2F-E866-E06C-05AE184BBE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agir </a:t>
            </a:r>
          </a:p>
        </p:txBody>
      </p:sp>
      <p:sp>
        <p:nvSpPr>
          <p:cNvPr id="8" name="Espaço Reservado para Texto 7">
            <a:extLst>
              <a:ext uri="{FF2B5EF4-FFF2-40B4-BE49-F238E27FC236}">
                <a16:creationId xmlns:a16="http://schemas.microsoft.com/office/drawing/2014/main" id="{13F3E473-42DB-F42C-80EE-72D40835075C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E6E8F0"/>
                </a:solidFill>
                <a:effectLst/>
                <a:latin typeface="Google Sans"/>
              </a:rPr>
              <a:t> Não ignore ou minimize a situação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E6E8F0"/>
                </a:solidFill>
                <a:effectLst/>
                <a:latin typeface="Google Sans"/>
              </a:rPr>
              <a:t> Garanta a segurança da vítima e afaste-a do agressor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E6E8F0"/>
                </a:solidFill>
                <a:effectLst/>
                <a:latin typeface="Google Sans"/>
              </a:rPr>
              <a:t> Registre a agressão (prints, fotos, links) e denuncie nas plataformas e, se necessário, às autoridades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419663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500">
        <p:checker dir="vert"/>
      </p:transition>
    </mc:Choice>
    <mc:Fallback>
      <p:transition spd="slow">
        <p:checker dir="vert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5605B0-73AE-3972-0B95-7EB2EE446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NAVEGAÇÃO CONSCIENTE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3666390-6D3B-9996-C209-0EB62C2550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pt-BR" i="0" dirty="0">
                <a:solidFill>
                  <a:srgbClr val="E6E8F0"/>
                </a:solidFill>
                <a:effectLst/>
                <a:latin typeface="Google Sans"/>
              </a:rPr>
              <a:t>Autenticação Fortalecida: Use senhas complexas (misturando letras, números e símbolos) e ative sempre a verificação em duas etapas (2FA) em suas contas principais.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i="0" dirty="0">
                <a:solidFill>
                  <a:srgbClr val="E6E8F0"/>
                </a:solidFill>
                <a:effectLst/>
                <a:latin typeface="Google Sans"/>
              </a:rPr>
              <a:t>Cuidado com Links e Anexos: Nunca clique em links recebidos por e-mails ou mensagens de desconhecidos. O </a:t>
            </a:r>
            <a:r>
              <a:rPr lang="pt-BR" i="1" dirty="0" err="1">
                <a:solidFill>
                  <a:srgbClr val="E6E8F0"/>
                </a:solidFill>
                <a:effectLst/>
                <a:latin typeface="Google Sans"/>
              </a:rPr>
              <a:t>phishing</a:t>
            </a:r>
            <a:r>
              <a:rPr lang="pt-BR" i="0" dirty="0">
                <a:solidFill>
                  <a:srgbClr val="E6E8F0"/>
                </a:solidFill>
                <a:effectLst/>
                <a:latin typeface="Google Sans"/>
              </a:rPr>
              <a:t> (mensagens falsas que imitam bancos ou lojas) é a forma mais comum de roubo de dados.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i="0" dirty="0">
                <a:solidFill>
                  <a:srgbClr val="E6E8F0"/>
                </a:solidFill>
                <a:effectLst/>
                <a:latin typeface="Google Sans"/>
              </a:rPr>
              <a:t>Conexões Seguras: Evite realizar transações bancárias ou compras usando Wi-Fi público (de shoppings ou cafés). Prefira sempre redes protegidas ou seus dados móveis.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771778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500">
        <p:checker dir="vert"/>
      </p:transition>
    </mc:Choice>
    <mc:Fallback>
      <p:transition spd="slow">
        <p:checker dir="vert"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64</TotalTime>
  <Words>308</Words>
  <Application>Microsoft Office PowerPoint</Application>
  <PresentationFormat>Widescreen</PresentationFormat>
  <Paragraphs>27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9" baseType="lpstr">
      <vt:lpstr>Arial</vt:lpstr>
      <vt:lpstr>Google Sans</vt:lpstr>
      <vt:lpstr>Tw Cen MT</vt:lpstr>
      <vt:lpstr>Circuito</vt:lpstr>
      <vt:lpstr> Segurança na internet</vt:lpstr>
      <vt:lpstr> cyberbullying </vt:lpstr>
      <vt:lpstr>Formas de prevenir o “cyberbullying”</vt:lpstr>
      <vt:lpstr>                CARACTERISTICAS  sobre o                      “CYBERBULLYING”</vt:lpstr>
      <vt:lpstr>NAVEGAÇÃO CONSCIENTE</vt:lpstr>
    </vt:vector>
  </TitlesOfParts>
  <Company>Centro Paula Souza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Fatec</dc:creator>
  <cp:lastModifiedBy>Fatec</cp:lastModifiedBy>
  <cp:revision>1</cp:revision>
  <dcterms:created xsi:type="dcterms:W3CDTF">2026-03-31T15:28:04Z</dcterms:created>
  <dcterms:modified xsi:type="dcterms:W3CDTF">2026-03-31T16:32:24Z</dcterms:modified>
</cp:coreProperties>
</file>