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110" d="100"/>
          <a:sy n="110" d="100"/>
        </p:scale>
        <p:origin x="117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45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96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97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8846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785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29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84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373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837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75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5212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240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177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053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675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35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D702A-A8EF-457F-BAD4-84D51B465407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20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F746D-9983-4797-A066-D9917211B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24346" y="1427358"/>
            <a:ext cx="7766936" cy="1482060"/>
          </a:xfrm>
        </p:spPr>
        <p:txBody>
          <a:bodyPr/>
          <a:lstStyle/>
          <a:p>
            <a:r>
              <a:rPr lang="pt-BR" sz="7200" dirty="0"/>
              <a:t>	</a:t>
            </a:r>
            <a:r>
              <a:rPr lang="pt-BR" sz="11500" b="1" i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Barroco</a:t>
            </a:r>
            <a:endParaRPr lang="pt-BR" sz="7200" b="1" i="1" dirty="0">
              <a:solidFill>
                <a:schemeClr val="accent5">
                  <a:lumMod val="7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85AAF9-6C54-4437-9DD0-799BC805B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63047" y="2983916"/>
            <a:ext cx="7766936" cy="1096899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A arte </a:t>
            </a:r>
            <a:r>
              <a:rPr lang="pt-BR" sz="32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antiga 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B39F40F-343E-4FAC-A78F-474FC5D8B7F2}"/>
              </a:ext>
            </a:extLst>
          </p:cNvPr>
          <p:cNvCxnSpPr/>
          <p:nvPr/>
        </p:nvCxnSpPr>
        <p:spPr>
          <a:xfrm>
            <a:off x="10657114" y="6629400"/>
            <a:ext cx="114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7D2E83D-8D8F-4998-B536-BF6FD948BB40}"/>
              </a:ext>
            </a:extLst>
          </p:cNvPr>
          <p:cNvCxnSpPr/>
          <p:nvPr/>
        </p:nvCxnSpPr>
        <p:spPr>
          <a:xfrm>
            <a:off x="961772" y="2754086"/>
            <a:ext cx="5720452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6B9B813-E92D-4D30-BB39-124F19D22DCA}"/>
              </a:ext>
            </a:extLst>
          </p:cNvPr>
          <p:cNvCxnSpPr/>
          <p:nvPr/>
        </p:nvCxnSpPr>
        <p:spPr>
          <a:xfrm>
            <a:off x="1458686" y="279762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1C7E364C-81A7-4346-9094-9F8B8DA2CDC1}"/>
              </a:ext>
            </a:extLst>
          </p:cNvPr>
          <p:cNvCxnSpPr/>
          <p:nvPr/>
        </p:nvCxnSpPr>
        <p:spPr>
          <a:xfrm>
            <a:off x="1432035" y="3501886"/>
            <a:ext cx="31677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680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4F649-8AA6-409E-BCE1-022AE6C3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825795"/>
          </a:xfrm>
        </p:spPr>
        <p:txBody>
          <a:bodyPr>
            <a:noAutofit/>
          </a:bodyPr>
          <a:lstStyle/>
          <a:p>
            <a:r>
              <a:rPr lang="pt-BR" sz="60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o que </a:t>
            </a:r>
            <a:r>
              <a:rPr lang="pt-BR" sz="60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é </a:t>
            </a:r>
            <a:r>
              <a:rPr lang="pt-BR" sz="60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o </a:t>
            </a:r>
            <a:r>
              <a:rPr lang="pt-BR" sz="60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barroco?</a:t>
            </a:r>
            <a:endParaRPr lang="pt-BR" sz="6000" b="1" dirty="0">
              <a:solidFill>
                <a:schemeClr val="accent5">
                  <a:lumMod val="7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14C745-9A4F-4FD7-8530-4C16EE1CA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033" y="2134478"/>
            <a:ext cx="8596668" cy="2006306"/>
          </a:xfrm>
        </p:spPr>
        <p:txBody>
          <a:bodyPr>
            <a:normAutofit/>
          </a:bodyPr>
          <a:lstStyle/>
          <a:p>
            <a:endParaRPr lang="pt-BR" sz="2400" b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B3E3EB1-B1AB-4BCE-B181-8BEA0E10D458}"/>
              </a:ext>
            </a:extLst>
          </p:cNvPr>
          <p:cNvCxnSpPr/>
          <p:nvPr/>
        </p:nvCxnSpPr>
        <p:spPr>
          <a:xfrm flipV="1">
            <a:off x="738295" y="1404376"/>
            <a:ext cx="6797256" cy="3101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8A54625-CEDA-4A17-BC30-81C29718979C}"/>
              </a:ext>
            </a:extLst>
          </p:cNvPr>
          <p:cNvCxnSpPr/>
          <p:nvPr/>
        </p:nvCxnSpPr>
        <p:spPr>
          <a:xfrm>
            <a:off x="677335" y="216549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FCD7066-7FEA-4896-B58B-261DFBC08462}"/>
              </a:ext>
            </a:extLst>
          </p:cNvPr>
          <p:cNvCxnSpPr>
            <a:cxnSpLocks/>
          </p:cNvCxnSpPr>
          <p:nvPr/>
        </p:nvCxnSpPr>
        <p:spPr>
          <a:xfrm>
            <a:off x="1357818" y="350874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Arredondado 11"/>
          <p:cNvSpPr/>
          <p:nvPr/>
        </p:nvSpPr>
        <p:spPr>
          <a:xfrm>
            <a:off x="322713" y="2038785"/>
            <a:ext cx="7760792" cy="297636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pt-BR" sz="28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o barroco seria um movimento cultural e artístico que surgiu na Itália no final do século XVI e se espalhou pelo mundo até o século XVIII.</a:t>
            </a:r>
            <a:endParaRPr lang="pt-BR" sz="28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562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9EDFA-BD9E-42E4-A6F2-0E6FA33DB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479" y="0"/>
            <a:ext cx="6082462" cy="2105247"/>
          </a:xfrm>
        </p:spPr>
        <p:txBody>
          <a:bodyPr>
            <a:normAutofit/>
          </a:bodyPr>
          <a:lstStyle/>
          <a:p>
            <a:r>
              <a:rPr lang="pt-BR" sz="32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Imagem ilustrativa da arte                 </a:t>
            </a:r>
            <a:br>
              <a:rPr lang="pt-BR" sz="32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</a:br>
            <a:r>
              <a:rPr lang="pt-BR" sz="32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                </a:t>
            </a:r>
            <a:r>
              <a:rPr lang="pt-BR" sz="40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barroca</a:t>
            </a:r>
            <a:endParaRPr lang="pt-BR" sz="4000" b="1" dirty="0">
              <a:solidFill>
                <a:schemeClr val="accent5">
                  <a:lumMod val="7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5FAA59-30B2-4FD6-B11D-26A88781F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903" y="2362399"/>
            <a:ext cx="4266046" cy="2584449"/>
          </a:xfrm>
        </p:spPr>
        <p:txBody>
          <a:bodyPr/>
          <a:lstStyle/>
          <a:p>
            <a:r>
              <a:rPr lang="pt-BR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.</a:t>
            </a:r>
            <a:endParaRPr lang="pt-BR" b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1026" name="Picture 2" descr="O Período Barroco na Arte Europeia: Grandes Mestres e Suas ...">
            <a:extLst>
              <a:ext uri="{FF2B5EF4-FFF2-40B4-BE49-F238E27FC236}">
                <a16:creationId xmlns:a16="http://schemas.microsoft.com/office/drawing/2014/main" id="{64E37752-7238-443A-B97F-F6A5C15A4A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810" y="514313"/>
            <a:ext cx="4118117" cy="582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C4C1040-91E2-42E5-A978-9AC50CBE18FA}"/>
              </a:ext>
            </a:extLst>
          </p:cNvPr>
          <p:cNvCxnSpPr/>
          <p:nvPr/>
        </p:nvCxnSpPr>
        <p:spPr>
          <a:xfrm>
            <a:off x="5064810" y="514313"/>
            <a:ext cx="4118117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AFE286AF-0983-472A-9E32-59BB1114B8F5}"/>
              </a:ext>
            </a:extLst>
          </p:cNvPr>
          <p:cNvCxnSpPr>
            <a:cxnSpLocks/>
          </p:cNvCxnSpPr>
          <p:nvPr/>
        </p:nvCxnSpPr>
        <p:spPr>
          <a:xfrm>
            <a:off x="5064810" y="514313"/>
            <a:ext cx="0" cy="5829374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04117008-058B-4950-B2C3-0EBDC7703818}"/>
              </a:ext>
            </a:extLst>
          </p:cNvPr>
          <p:cNvCxnSpPr/>
          <p:nvPr/>
        </p:nvCxnSpPr>
        <p:spPr>
          <a:xfrm>
            <a:off x="9182927" y="495019"/>
            <a:ext cx="0" cy="5829374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C9650D09-3B2E-4A1D-A247-AFF9F3A05A2C}"/>
              </a:ext>
            </a:extLst>
          </p:cNvPr>
          <p:cNvCxnSpPr/>
          <p:nvPr/>
        </p:nvCxnSpPr>
        <p:spPr>
          <a:xfrm>
            <a:off x="5064809" y="6343687"/>
            <a:ext cx="4118117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Retângulo Arredondado 9"/>
          <p:cNvSpPr/>
          <p:nvPr/>
        </p:nvSpPr>
        <p:spPr>
          <a:xfrm>
            <a:off x="165043" y="2362399"/>
            <a:ext cx="4659946" cy="357412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A</a:t>
            </a:r>
            <a:r>
              <a:rPr lang="pt-BR" sz="2000" b="1" dirty="0">
                <a:latin typeface="Berlin Sans FB Demi" panose="020E0802020502020306" pitchFamily="34" charset="0"/>
              </a:rPr>
              <a:t>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arte barroca foca no drama e na </a:t>
            </a:r>
          </a:p>
          <a:p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 emoção, utilizando o forte </a:t>
            </a:r>
            <a:r>
              <a:rPr lang="pt-BR" sz="20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contraste De</a:t>
            </a:r>
            <a:r>
              <a:rPr lang="pt-BR" sz="20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pt-BR" sz="20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luz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e sombra (</a:t>
            </a:r>
            <a:r>
              <a:rPr lang="pt-BR" sz="2000" b="1" i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chiaroscuro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) para criar </a:t>
            </a:r>
            <a:r>
              <a:rPr lang="pt-BR" sz="20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impacto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. Suas obras priorizam o </a:t>
            </a:r>
            <a:r>
              <a:rPr lang="pt-BR" sz="20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movimento, o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realismo detalhado e as expressões </a:t>
            </a:r>
            <a:r>
              <a:rPr lang="pt-BR" sz="2000" b="1" dirty="0" smtClean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intensas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para emocionar o espectador</a:t>
            </a:r>
            <a:endParaRPr lang="pt-BR" sz="2000" dirty="0">
              <a:latin typeface="Berlin Sans FB Demi" panose="020E0802020502020306" pitchFamily="34" charset="0"/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B0E0C5F-14C2-405C-B64C-4F89509906DA}"/>
              </a:ext>
            </a:extLst>
          </p:cNvPr>
          <p:cNvCxnSpPr/>
          <p:nvPr/>
        </p:nvCxnSpPr>
        <p:spPr>
          <a:xfrm flipV="1">
            <a:off x="165043" y="1402079"/>
            <a:ext cx="4754880" cy="1741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0E0C5F-14C2-405C-B64C-4F89509906DA}"/>
              </a:ext>
            </a:extLst>
          </p:cNvPr>
          <p:cNvCxnSpPr/>
          <p:nvPr/>
        </p:nvCxnSpPr>
        <p:spPr>
          <a:xfrm flipV="1">
            <a:off x="1500852" y="2041547"/>
            <a:ext cx="2083261" cy="87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346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Arredondado 23"/>
          <p:cNvSpPr/>
          <p:nvPr/>
        </p:nvSpPr>
        <p:spPr>
          <a:xfrm>
            <a:off x="287384" y="2022232"/>
            <a:ext cx="4273744" cy="380868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310018" y="226880"/>
            <a:ext cx="5119435" cy="1636636"/>
          </a:xfrm>
        </p:spPr>
        <p:txBody>
          <a:bodyPr>
            <a:noAutofit/>
          </a:bodyPr>
          <a:lstStyle/>
          <a:p>
            <a:r>
              <a:rPr lang="pt-BR" sz="3200" b="1" dirty="0" smtClean="0">
                <a:latin typeface="Berlin Sans FB Demi" panose="020E0802020502020306" pitchFamily="34" charset="0"/>
              </a:rPr>
              <a:t>        </a:t>
            </a:r>
            <a:r>
              <a:rPr lang="pt-BR" sz="3200" dirty="0" smtClean="0">
                <a:latin typeface="Berlin Sans FB Demi" panose="020E0802020502020306" pitchFamily="34" charset="0"/>
              </a:rPr>
              <a:t>Importância da arte </a:t>
            </a:r>
            <a:r>
              <a:rPr lang="pt-BR" sz="3200" b="1" dirty="0" smtClean="0">
                <a:latin typeface="Berlin Sans FB Demi" panose="020E0802020502020306" pitchFamily="34" charset="0"/>
              </a:rPr>
              <a:t/>
            </a:r>
            <a:br>
              <a:rPr lang="pt-BR" sz="3200" b="1" dirty="0" smtClean="0">
                <a:latin typeface="Berlin Sans FB Demi" panose="020E0802020502020306" pitchFamily="34" charset="0"/>
              </a:rPr>
            </a:br>
            <a:r>
              <a:rPr lang="pt-BR" sz="3600" b="1" dirty="0">
                <a:latin typeface="Berlin Sans FB Demi" panose="020E0802020502020306" pitchFamily="34" charset="0"/>
              </a:rPr>
              <a:t> </a:t>
            </a:r>
            <a:r>
              <a:rPr lang="pt-BR" sz="3600" b="1" dirty="0" smtClean="0">
                <a:latin typeface="Berlin Sans FB Demi" panose="020E0802020502020306" pitchFamily="34" charset="0"/>
              </a:rPr>
              <a:t>               Barroca</a:t>
            </a:r>
            <a:endParaRPr lang="pt-BR" sz="3200" b="1" dirty="0">
              <a:latin typeface="Berlin Sans FB Demi" panose="020E0802020502020306" pitchFamily="34" charset="0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05835" y="2110822"/>
            <a:ext cx="4179437" cy="4098128"/>
          </a:xfrm>
        </p:spPr>
        <p:txBody>
          <a:bodyPr>
            <a:noAutofit/>
          </a:bodyPr>
          <a:lstStyle/>
          <a:p>
            <a:r>
              <a:rPr lang="pt-BR" sz="2000" b="1" dirty="0">
                <a:solidFill>
                  <a:schemeClr val="tx1">
                    <a:lumMod val="75000"/>
                  </a:schemeClr>
                </a:solidFill>
                <a:latin typeface="Berlin Sans FB Demi" panose="020E0802020502020306" pitchFamily="34" charset="0"/>
              </a:rPr>
              <a:t>foi fundamental por atuar como uma poderosa ferramenta de comunicação visual e política no século XVII. Desenvolvida no contexto da Contrarreforma Católica, ela buscava emocionar os fiéis e reafirmar o poder da Igreja por meio de contraste, dramaticidade e riqueza de detalhes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B0E0C5F-14C2-405C-B64C-4F89509906DA}"/>
              </a:ext>
            </a:extLst>
          </p:cNvPr>
          <p:cNvCxnSpPr/>
          <p:nvPr/>
        </p:nvCxnSpPr>
        <p:spPr>
          <a:xfrm flipV="1">
            <a:off x="631372" y="1227908"/>
            <a:ext cx="3585768" cy="348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B0E0C5F-14C2-405C-B64C-4F89509906DA}"/>
              </a:ext>
            </a:extLst>
          </p:cNvPr>
          <p:cNvCxnSpPr/>
          <p:nvPr/>
        </p:nvCxnSpPr>
        <p:spPr>
          <a:xfrm>
            <a:off x="1697300" y="1800474"/>
            <a:ext cx="139787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Arte barroca no Brasil – HiSoUR Arte Cultura Exposição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417" y="746620"/>
            <a:ext cx="4493974" cy="508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891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1652631"/>
            <a:ext cx="8596668" cy="218114"/>
          </a:xfrm>
        </p:spPr>
        <p:txBody>
          <a:bodyPr>
            <a:noAutofit/>
          </a:bodyPr>
          <a:lstStyle/>
          <a:p>
            <a:r>
              <a:rPr lang="pt-BR" sz="4800" dirty="0" smtClean="0">
                <a:latin typeface="Berlin Sans FB Demi" panose="020E0802020502020306" pitchFamily="34" charset="0"/>
              </a:rPr>
              <a:t>Os maiores nomes no brasil da  </a:t>
            </a:r>
            <a:br>
              <a:rPr lang="pt-BR" sz="4800" dirty="0" smtClean="0">
                <a:latin typeface="Berlin Sans FB Demi" panose="020E0802020502020306" pitchFamily="34" charset="0"/>
              </a:rPr>
            </a:br>
            <a:r>
              <a:rPr lang="pt-BR" sz="4800" dirty="0">
                <a:latin typeface="Berlin Sans FB Demi" panose="020E0802020502020306" pitchFamily="34" charset="0"/>
              </a:rPr>
              <a:t> </a:t>
            </a:r>
            <a:r>
              <a:rPr lang="pt-BR" sz="4800" dirty="0" smtClean="0">
                <a:latin typeface="Berlin Sans FB Demi" panose="020E0802020502020306" pitchFamily="34" charset="0"/>
              </a:rPr>
              <a:t>                arte </a:t>
            </a:r>
            <a:r>
              <a:rPr lang="pt-BR" sz="4800" b="1" dirty="0" smtClean="0">
                <a:latin typeface="Berlin Sans FB Demi" panose="020E0802020502020306" pitchFamily="34" charset="0"/>
              </a:rPr>
              <a:t>barroca</a:t>
            </a:r>
            <a:br>
              <a:rPr lang="pt-BR" sz="4800" b="1" dirty="0" smtClean="0">
                <a:latin typeface="Berlin Sans FB Demi" panose="020E0802020502020306" pitchFamily="34" charset="0"/>
              </a:rPr>
            </a:br>
            <a:endParaRPr lang="pt-BR" sz="4800" b="1" dirty="0">
              <a:latin typeface="Berlin Sans FB Demi" panose="020E0802020502020306" pitchFamily="34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77335" y="1375794"/>
            <a:ext cx="8596668" cy="4665568"/>
          </a:xfrm>
        </p:spPr>
        <p:txBody>
          <a:bodyPr>
            <a:normAutofit/>
          </a:bodyPr>
          <a:lstStyle/>
          <a:p>
            <a:endParaRPr lang="pt-BR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cxnSp>
        <p:nvCxnSpPr>
          <p:cNvPr id="5" name="Conector reto 4"/>
          <p:cNvCxnSpPr/>
          <p:nvPr/>
        </p:nvCxnSpPr>
        <p:spPr>
          <a:xfrm>
            <a:off x="7130642" y="3708578"/>
            <a:ext cx="13925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Arredondado 6"/>
          <p:cNvSpPr/>
          <p:nvPr/>
        </p:nvSpPr>
        <p:spPr>
          <a:xfrm>
            <a:off x="677335" y="2335854"/>
            <a:ext cx="8182351" cy="32403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  <a:latin typeface="Algerian" panose="04020705040A02060702" pitchFamily="82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Berlin Sans FB Demi" panose="020E0802020502020306" pitchFamily="34" charset="0"/>
              </a:rPr>
              <a:t>No Brasil, os maiores nomes da literatura são Gregório de Matos e Padre      Antônio Vieira, enquanto nas artes plásticas destacam-se Aleijadinho e Mestre Ataíde. Internacionalmente, figuras como Caravaggio na pintura e Johann Sebastian Bach na música definiram o período</a:t>
            </a:r>
            <a:endParaRPr lang="pt-BR" sz="20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599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27320" y="-38249"/>
            <a:ext cx="8596668" cy="1261145"/>
          </a:xfrm>
        </p:spPr>
        <p:txBody>
          <a:bodyPr>
            <a:normAutofit/>
          </a:bodyPr>
          <a:lstStyle/>
          <a:p>
            <a:r>
              <a:rPr lang="pt-BR" sz="6600" b="1" dirty="0" smtClean="0">
                <a:latin typeface="Berlin Sans FB Demi" panose="020E0802020502020306" pitchFamily="34" charset="0"/>
              </a:rPr>
              <a:t>Artistas e obras </a:t>
            </a:r>
            <a:endParaRPr lang="pt-BR" sz="6600" b="1" dirty="0">
              <a:latin typeface="Berlin Sans FB Demi" panose="020E0802020502020306" pitchFamily="34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692867" y="530907"/>
            <a:ext cx="7407477" cy="5721208"/>
          </a:xfrm>
        </p:spPr>
        <p:txBody>
          <a:bodyPr>
            <a:normAutofit/>
          </a:bodyPr>
          <a:lstStyle/>
          <a:p>
            <a:endParaRPr lang="pt-BR" b="1" dirty="0" smtClean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endParaRPr lang="pt-BR" b="1" dirty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endParaRPr lang="pt-BR" b="1" dirty="0" smtClean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endParaRPr lang="pt-BR" b="1" dirty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r>
              <a:rPr lang="pt-BR" b="1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Caravaggio </a:t>
            </a:r>
            <a:r>
              <a:rPr lang="pt-BR" b="1" dirty="0">
                <a:solidFill>
                  <a:schemeClr val="tx1"/>
                </a:solidFill>
                <a:latin typeface="Berlin Sans FB Demi" panose="020E0802020502020306" pitchFamily="34" charset="0"/>
              </a:rPr>
              <a:t>(Itália)</a:t>
            </a:r>
            <a:r>
              <a:rPr lang="pt-BR" dirty="0">
                <a:solidFill>
                  <a:schemeClr val="tx1"/>
                </a:solidFill>
                <a:latin typeface="Berlin Sans FB Demi" panose="020E0802020502020306" pitchFamily="34" charset="0"/>
              </a:rPr>
              <a:t>: Pioneiro no uso realista da iluminação dramática de fundo escuro</a:t>
            </a:r>
            <a:r>
              <a:rPr lang="pt-BR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. </a:t>
            </a:r>
            <a:r>
              <a:rPr lang="pt-BR" i="1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A </a:t>
            </a:r>
            <a:r>
              <a:rPr lang="pt-BR" i="1" dirty="0">
                <a:solidFill>
                  <a:schemeClr val="tx1"/>
                </a:solidFill>
                <a:latin typeface="Berlin Sans FB Demi" panose="020E0802020502020306" pitchFamily="34" charset="0"/>
              </a:rPr>
              <a:t>Vocação de São </a:t>
            </a:r>
            <a:r>
              <a:rPr lang="pt-BR" i="1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Mateus,</a:t>
            </a:r>
            <a:r>
              <a:rPr lang="pt-BR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 </a:t>
            </a:r>
            <a:r>
              <a:rPr lang="pt-BR" i="1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A </a:t>
            </a:r>
            <a:r>
              <a:rPr lang="pt-BR" i="1" dirty="0">
                <a:solidFill>
                  <a:schemeClr val="tx1"/>
                </a:solidFill>
                <a:latin typeface="Berlin Sans FB Demi" panose="020E0802020502020306" pitchFamily="34" charset="0"/>
              </a:rPr>
              <a:t>Conversão de São </a:t>
            </a:r>
            <a:r>
              <a:rPr lang="pt-BR" i="1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Paulo</a:t>
            </a:r>
            <a:r>
              <a:rPr lang="pt-BR" dirty="0">
                <a:solidFill>
                  <a:schemeClr val="tx1"/>
                </a:solidFill>
                <a:latin typeface="Berlin Sans FB Demi" panose="020E0802020502020306" pitchFamily="34" charset="0"/>
              </a:rPr>
              <a:t> .</a:t>
            </a:r>
            <a:endParaRPr lang="pt-BR" dirty="0" smtClean="0">
              <a:solidFill>
                <a:schemeClr val="tx1"/>
              </a:solidFill>
              <a:latin typeface="Berlin Sans FB Demi" panose="020E0802020502020306" pitchFamily="34" charset="0"/>
            </a:endParaRPr>
          </a:p>
          <a:p>
            <a:r>
              <a:rPr lang="pt-BR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 </a:t>
            </a:r>
            <a:r>
              <a:rPr lang="pt-BR" i="1" dirty="0">
                <a:solidFill>
                  <a:schemeClr val="tx1"/>
                </a:solidFill>
                <a:latin typeface="Berlin Sans FB Demi" panose="020E0802020502020306" pitchFamily="34" charset="0"/>
              </a:rPr>
              <a:t>A Vocação de São Mateus</a:t>
            </a:r>
            <a:r>
              <a:rPr lang="pt-BR" dirty="0">
                <a:solidFill>
                  <a:schemeClr val="tx1"/>
                </a:solidFill>
                <a:latin typeface="Berlin Sans FB Demi" panose="020E0802020502020306" pitchFamily="34" charset="0"/>
              </a:rPr>
              <a:t> (1599-1600) mostra o momento em </a:t>
            </a:r>
            <a:r>
              <a:rPr lang="pt-BR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           que           Jesus </a:t>
            </a:r>
            <a:r>
              <a:rPr lang="pt-BR" dirty="0">
                <a:solidFill>
                  <a:schemeClr val="tx1"/>
                </a:solidFill>
                <a:latin typeface="Berlin Sans FB Demi" panose="020E0802020502020306" pitchFamily="34" charset="0"/>
              </a:rPr>
              <a:t>convida Mateus, um cobrador de impostos, para ser seu discípulo [1]. A obra destaca-se por um feixe de luz diagonal marcante [1]. Essa luz rasga a </a:t>
            </a:r>
            <a:r>
              <a:rPr lang="pt-BR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 escuridão </a:t>
            </a:r>
            <a:r>
              <a:rPr lang="pt-BR" dirty="0">
                <a:solidFill>
                  <a:schemeClr val="tx1"/>
                </a:solidFill>
                <a:latin typeface="Berlin Sans FB Demi" panose="020E0802020502020306" pitchFamily="34" charset="0"/>
              </a:rPr>
              <a:t>e direciona o olhar do espectador direto para o rosto de </a:t>
            </a:r>
            <a:r>
              <a:rPr lang="pt-BR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Mateus.</a:t>
            </a:r>
          </a:p>
          <a:p>
            <a:endParaRPr lang="pt-BR" dirty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endParaRPr lang="pt-BR" dirty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endParaRPr lang="pt-BR" dirty="0" smtClean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endParaRPr lang="pt-BR" dirty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endParaRPr lang="pt-BR" dirty="0" smtClean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endParaRPr lang="pt-BR" dirty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endParaRPr lang="pt-BR" dirty="0" smtClean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endParaRPr lang="pt-BR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77" y="1406408"/>
            <a:ext cx="2576602" cy="2431599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692867" y="4374264"/>
            <a:ext cx="6924268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  </a:t>
            </a:r>
            <a:r>
              <a:rPr kumimoji="0" lang="pt-BR" altLang="pt-B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Aleijadinho / Antônio Francisco Lisboa (Minas  Gerais)</a:t>
            </a:r>
            <a:r>
              <a:rPr kumimoji="0" lang="pt-BR" alt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: Escultor e arquiteto, considerado o ápice do Barroco-Rococó brasileiro.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erlin Sans FB Demi" panose="020E0802020502020306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Os Doze Profetas</a:t>
            </a:r>
            <a:r>
              <a:rPr kumimoji="0" lang="pt-BR" alt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 (em pedra-sabão, em Congonhas)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erlin Sans FB Demi" panose="020E0802020502020306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i="1" dirty="0" smtClean="0">
                <a:latin typeface="Berlin Sans FB Demi" panose="020E0802020502020306" pitchFamily="34" charset="0"/>
              </a:rPr>
              <a:t>  Os </a:t>
            </a:r>
            <a:r>
              <a:rPr lang="pt-BR" i="1" dirty="0">
                <a:latin typeface="Berlin Sans FB Demi" panose="020E0802020502020306" pitchFamily="34" charset="0"/>
              </a:rPr>
              <a:t>Doze Profetas</a:t>
            </a:r>
            <a:r>
              <a:rPr lang="pt-BR" dirty="0">
                <a:latin typeface="Berlin Sans FB Demi" panose="020E0802020502020306" pitchFamily="34" charset="0"/>
              </a:rPr>
              <a:t> é um conjunto de </a:t>
            </a:r>
            <a:r>
              <a:rPr lang="pt-BR" b="1" dirty="0">
                <a:latin typeface="Berlin Sans FB Demi" panose="020E0802020502020306" pitchFamily="34" charset="0"/>
              </a:rPr>
              <a:t>12 esculturas em </a:t>
            </a:r>
            <a:r>
              <a:rPr lang="pt-BR" b="1" dirty="0" smtClean="0">
                <a:latin typeface="Berlin Sans FB Demi" panose="020E0802020502020306" pitchFamily="34" charset="0"/>
              </a:rPr>
              <a:t>  tamanho </a:t>
            </a:r>
            <a:r>
              <a:rPr lang="pt-BR" b="1" dirty="0">
                <a:latin typeface="Berlin Sans FB Demi" panose="020E0802020502020306" pitchFamily="34" charset="0"/>
              </a:rPr>
              <a:t>real</a:t>
            </a:r>
            <a:r>
              <a:rPr lang="pt-BR" dirty="0">
                <a:latin typeface="Berlin Sans FB Demi" panose="020E0802020502020306" pitchFamily="34" charset="0"/>
              </a:rPr>
              <a:t> feitas em pedra-sabão por </a:t>
            </a:r>
            <a:r>
              <a:rPr lang="pt-BR" dirty="0" smtClean="0">
                <a:latin typeface="Berlin Sans FB Demi" panose="020E0802020502020306" pitchFamily="34" charset="0"/>
              </a:rPr>
              <a:t>Aleijadinho.</a:t>
            </a:r>
            <a:endParaRPr kumimoji="0" lang="pt-BR" alt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erlin Sans FB Demi" panose="020E0802020502020306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erlin Sans FB Demi" panose="020E0802020502020306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erlin Sans FB Demi" panose="020E0802020502020306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erlin Sans FB Demi" panose="020E0802020502020306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8" y="4147364"/>
            <a:ext cx="2575579" cy="2501123"/>
          </a:xfrm>
          <a:prstGeom prst="rect">
            <a:avLst/>
          </a:prstGeom>
        </p:spPr>
      </p:pic>
      <p:cxnSp>
        <p:nvCxnSpPr>
          <p:cNvPr id="10" name="Conector reto 9"/>
          <p:cNvCxnSpPr/>
          <p:nvPr/>
        </p:nvCxnSpPr>
        <p:spPr>
          <a:xfrm>
            <a:off x="0" y="3994304"/>
            <a:ext cx="10100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9042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5331" y="-128631"/>
            <a:ext cx="9322342" cy="3403600"/>
          </a:xfrm>
        </p:spPr>
        <p:txBody>
          <a:bodyPr>
            <a:normAutofit/>
          </a:bodyPr>
          <a:lstStyle/>
          <a:p>
            <a:r>
              <a:rPr lang="pt-BR" sz="5400" b="1" dirty="0" smtClean="0">
                <a:latin typeface="Berlin Sans FB Demi" panose="020E0802020502020306" pitchFamily="34" charset="0"/>
              </a:rPr>
              <a:t>Caracteristicas Principais</a:t>
            </a:r>
            <a:endParaRPr lang="pt-BR" sz="5400" b="1" dirty="0">
              <a:latin typeface="Berlin Sans FB Demi" panose="020E0802020502020306" pitchFamily="34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75331" y="1872343"/>
            <a:ext cx="8898672" cy="4169019"/>
          </a:xfrm>
        </p:spPr>
        <p:txBody>
          <a:bodyPr/>
          <a:lstStyle/>
          <a:p>
            <a:r>
              <a:rPr lang="pt-BR" sz="20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   </a:t>
            </a:r>
            <a:r>
              <a:rPr lang="pt-BR" sz="2000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O </a:t>
            </a:r>
            <a:r>
              <a:rPr lang="pt-BR" sz="2000" dirty="0">
                <a:solidFill>
                  <a:schemeClr val="tx1"/>
                </a:solidFill>
                <a:latin typeface="Berlin Sans FB Demi" panose="020E0802020502020306" pitchFamily="34" charset="0"/>
              </a:rPr>
              <a:t>Barroco é a arte do conflito</a:t>
            </a:r>
            <a:r>
              <a:rPr lang="pt-BR" sz="2000" dirty="0" smtClean="0">
                <a:solidFill>
                  <a:schemeClr val="tx1"/>
                </a:solidFill>
                <a:latin typeface="Berlin Sans FB Demi" panose="020E0802020502020306" pitchFamily="34" charset="0"/>
              </a:rPr>
              <a:t>.  </a:t>
            </a:r>
            <a:r>
              <a:rPr lang="pt-BR" sz="2000" dirty="0">
                <a:solidFill>
                  <a:schemeClr val="tx1"/>
                </a:solidFill>
                <a:latin typeface="Berlin Sans FB Demi" panose="020E0802020502020306" pitchFamily="34" charset="0"/>
              </a:rPr>
              <a:t>Suas principais características são o contraste entre luz e sombra (claro-escuro) e o forte drama emocional.</a:t>
            </a:r>
          </a:p>
          <a:p>
            <a:r>
              <a:rPr lang="pt-BR" sz="2000" dirty="0">
                <a:solidFill>
                  <a:schemeClr val="tx1"/>
                </a:solidFill>
                <a:latin typeface="Berlin Sans FB Demi" panose="020E0802020502020306" pitchFamily="34" charset="0"/>
              </a:rPr>
              <a:t>O estilo rejeita a simetria para focar no movimento e linhas curvas, criando cenas teatrais e realistas que expressam a tensão entre o sagrado e o pecado. Na literatura, destaca-se pelo uso de metáforas complexas e linguagem rebuscada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043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do">
  <a:themeElements>
    <a:clrScheme name="Personalizada 1">
      <a:dk1>
        <a:srgbClr val="73320B"/>
      </a:dk1>
      <a:lt1>
        <a:sysClr val="window" lastClr="FFFFFF"/>
      </a:lt1>
      <a:dk2>
        <a:srgbClr val="2C3C43"/>
      </a:dk2>
      <a:lt2>
        <a:srgbClr val="EBEBEB"/>
      </a:lt2>
      <a:accent1>
        <a:srgbClr val="73320B"/>
      </a:accent1>
      <a:accent2>
        <a:srgbClr val="73320B"/>
      </a:accent2>
      <a:accent3>
        <a:srgbClr val="73320B"/>
      </a:accent3>
      <a:accent4>
        <a:srgbClr val="73320B"/>
      </a:accent4>
      <a:accent5>
        <a:srgbClr val="73320B"/>
      </a:accent5>
      <a:accent6>
        <a:srgbClr val="73320B"/>
      </a:accent6>
      <a:hlink>
        <a:srgbClr val="755D0C"/>
      </a:hlink>
      <a:folHlink>
        <a:srgbClr val="73320B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247</TotalTime>
  <Words>397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Algerian</vt:lpstr>
      <vt:lpstr>Arial</vt:lpstr>
      <vt:lpstr>Berlin Sans FB Demi</vt:lpstr>
      <vt:lpstr>Trebuchet MS</vt:lpstr>
      <vt:lpstr>Wingdings 3</vt:lpstr>
      <vt:lpstr>Facetado</vt:lpstr>
      <vt:lpstr> Barroco</vt:lpstr>
      <vt:lpstr>o que é o barroco?</vt:lpstr>
      <vt:lpstr>Imagem ilustrativa da arte                                  barroca</vt:lpstr>
      <vt:lpstr>        Importância da arte                  Barroca</vt:lpstr>
      <vt:lpstr>Os maiores nomes no brasil da                    arte barroca </vt:lpstr>
      <vt:lpstr>Artistas e obras </vt:lpstr>
      <vt:lpstr>Caracteristicas Principais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Barroco</dc:title>
  <dc:creator>Aluno</dc:creator>
  <cp:lastModifiedBy>Fatec</cp:lastModifiedBy>
  <cp:revision>17</cp:revision>
  <dcterms:created xsi:type="dcterms:W3CDTF">2026-05-11T17:50:15Z</dcterms:created>
  <dcterms:modified xsi:type="dcterms:W3CDTF">2026-06-11T16:15:21Z</dcterms:modified>
</cp:coreProperties>
</file>