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3458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960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1971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38846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785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229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38451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63732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48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3758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25212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403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31772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6053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4675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352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FD702A-A8EF-457F-BAD4-84D51B465407}" type="datetimeFigureOut">
              <a:rPr lang="pt-BR" smtClean="0"/>
              <a:t>28/05/2026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4CA5762-C3B5-4D94-9543-6889BB8E55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9204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F746D-9983-4797-A066-D9917211B1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85770" y="1189579"/>
            <a:ext cx="7766936" cy="1424595"/>
          </a:xfrm>
        </p:spPr>
        <p:txBody>
          <a:bodyPr/>
          <a:lstStyle/>
          <a:p>
            <a:r>
              <a:rPr lang="pt-BR" sz="6600" dirty="0"/>
              <a:t>	</a:t>
            </a:r>
            <a:r>
              <a:rPr lang="pt-BR" sz="9600" b="1" i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Barroco</a:t>
            </a:r>
            <a:endParaRPr lang="pt-BR" sz="6600" b="1" i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985AAF9-6C54-4437-9DD0-799BC805B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3123412" y="2483546"/>
            <a:ext cx="7766936" cy="1096899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 arte com as mãos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B39F40F-343E-4FAC-A78F-474FC5D8B7F2}"/>
              </a:ext>
            </a:extLst>
          </p:cNvPr>
          <p:cNvCxnSpPr/>
          <p:nvPr/>
        </p:nvCxnSpPr>
        <p:spPr>
          <a:xfrm>
            <a:off x="10657114" y="6629400"/>
            <a:ext cx="1143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E7D2E83D-8D8F-4998-B536-BF6FD948BB40}"/>
              </a:ext>
            </a:extLst>
          </p:cNvPr>
          <p:cNvCxnSpPr/>
          <p:nvPr/>
        </p:nvCxnSpPr>
        <p:spPr>
          <a:xfrm>
            <a:off x="1360714" y="2318657"/>
            <a:ext cx="5720452" cy="0"/>
          </a:xfrm>
          <a:prstGeom prst="line">
            <a:avLst/>
          </a:prstGeom>
          <a:ln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36B9B813-E92D-4D30-BB39-124F19D22DCA}"/>
              </a:ext>
            </a:extLst>
          </p:cNvPr>
          <p:cNvCxnSpPr/>
          <p:nvPr/>
        </p:nvCxnSpPr>
        <p:spPr>
          <a:xfrm>
            <a:off x="1458686" y="2797629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1C7E364C-81A7-4346-9094-9F8B8DA2CDC1}"/>
              </a:ext>
            </a:extLst>
          </p:cNvPr>
          <p:cNvCxnSpPr/>
          <p:nvPr/>
        </p:nvCxnSpPr>
        <p:spPr>
          <a:xfrm>
            <a:off x="1360714" y="2852057"/>
            <a:ext cx="3167743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680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E4F649-8AA6-409E-BCE1-022AE6C3C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825795"/>
          </a:xfrm>
        </p:spPr>
        <p:txBody>
          <a:bodyPr>
            <a:noAutofit/>
          </a:bodyPr>
          <a:lstStyle/>
          <a:p>
            <a:r>
              <a:rPr lang="pt-BR" sz="5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o que </a:t>
            </a:r>
            <a:r>
              <a:rPr lang="pt-BR" sz="54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é </a:t>
            </a:r>
            <a:r>
              <a:rPr lang="pt-BR" sz="5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o </a:t>
            </a:r>
            <a:r>
              <a:rPr lang="pt-BR" sz="54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barroco?</a:t>
            </a:r>
            <a:endParaRPr lang="pt-BR" sz="5400" b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114C745-9A4F-4FD7-8530-4C16EE1CA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3418" y="1435395"/>
            <a:ext cx="8596668" cy="2006306"/>
          </a:xfrm>
        </p:spPr>
        <p:txBody>
          <a:bodyPr>
            <a:normAutofit/>
          </a:bodyPr>
          <a:lstStyle/>
          <a:p>
            <a:endParaRPr lang="pt-BR" sz="2400" b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B3E3EB1-B1AB-4BCE-B181-8BEA0E10D458}"/>
              </a:ext>
            </a:extLst>
          </p:cNvPr>
          <p:cNvCxnSpPr/>
          <p:nvPr/>
        </p:nvCxnSpPr>
        <p:spPr>
          <a:xfrm flipV="1">
            <a:off x="677335" y="1308683"/>
            <a:ext cx="6797256" cy="3101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C8A54625-CEDA-4A17-BC30-81C29718979C}"/>
              </a:ext>
            </a:extLst>
          </p:cNvPr>
          <p:cNvCxnSpPr/>
          <p:nvPr/>
        </p:nvCxnSpPr>
        <p:spPr>
          <a:xfrm>
            <a:off x="677335" y="2165497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CFCD7066-7FEA-4896-B58B-261DFBC08462}"/>
              </a:ext>
            </a:extLst>
          </p:cNvPr>
          <p:cNvCxnSpPr>
            <a:cxnSpLocks/>
          </p:cNvCxnSpPr>
          <p:nvPr/>
        </p:nvCxnSpPr>
        <p:spPr>
          <a:xfrm>
            <a:off x="1357818" y="3508744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tângulo Arredondado 11"/>
          <p:cNvSpPr/>
          <p:nvPr/>
        </p:nvSpPr>
        <p:spPr>
          <a:xfrm>
            <a:off x="209501" y="2038785"/>
            <a:ext cx="7760792" cy="297636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400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o barroco seria um movimento cultural e artístico que surgiu na Itália no final do século XVI e se espalhou pelo mundo até o século XVIII.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83556288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69EDFA-BD9E-42E4-A6F2-0E6FA33DB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07" y="105103"/>
            <a:ext cx="4798993" cy="2000144"/>
          </a:xfrm>
        </p:spPr>
        <p:txBody>
          <a:bodyPr>
            <a:normAutofit/>
          </a:bodyPr>
          <a:lstStyle/>
          <a:p>
            <a:r>
              <a:rPr lang="pt-BR" sz="24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Imagem ilustrativa da arte                 </a:t>
            </a:r>
            <a:br>
              <a:rPr lang="pt-BR" sz="24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</a:br>
            <a:r>
              <a:rPr lang="pt-BR" sz="24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               </a:t>
            </a:r>
            <a:r>
              <a:rPr lang="pt-BR" sz="3200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barroca</a:t>
            </a:r>
            <a:endParaRPr lang="pt-BR" sz="3200" b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B5FAA59-30B2-4FD6-B11D-26A88781F9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0903" y="2362399"/>
            <a:ext cx="4266046" cy="2584449"/>
          </a:xfrm>
        </p:spPr>
        <p:txBody>
          <a:bodyPr/>
          <a:lstStyle/>
          <a:p>
            <a:r>
              <a:rPr lang="pt-BR" b="1" dirty="0" smtClean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.</a:t>
            </a:r>
            <a:endParaRPr lang="pt-BR" b="1" dirty="0">
              <a:solidFill>
                <a:schemeClr val="accent5">
                  <a:lumMod val="75000"/>
                </a:schemeClr>
              </a:solidFill>
              <a:latin typeface="Algerian" panose="04020705040A02060702" pitchFamily="82" charset="0"/>
            </a:endParaRPr>
          </a:p>
        </p:txBody>
      </p:sp>
      <p:pic>
        <p:nvPicPr>
          <p:cNvPr id="1026" name="Picture 2" descr="O Período Barroco na Arte Europeia: Grandes Mestres e Suas ...">
            <a:extLst>
              <a:ext uri="{FF2B5EF4-FFF2-40B4-BE49-F238E27FC236}">
                <a16:creationId xmlns:a16="http://schemas.microsoft.com/office/drawing/2014/main" id="{64E37752-7238-443A-B97F-F6A5C15A4A5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4810" y="514313"/>
            <a:ext cx="4118117" cy="582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3C4C1040-91E2-42E5-A978-9AC50CBE18FA}"/>
              </a:ext>
            </a:extLst>
          </p:cNvPr>
          <p:cNvCxnSpPr/>
          <p:nvPr/>
        </p:nvCxnSpPr>
        <p:spPr>
          <a:xfrm>
            <a:off x="5064810" y="514313"/>
            <a:ext cx="4118117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AFE286AF-0983-472A-9E32-59BB1114B8F5}"/>
              </a:ext>
            </a:extLst>
          </p:cNvPr>
          <p:cNvCxnSpPr>
            <a:cxnSpLocks/>
          </p:cNvCxnSpPr>
          <p:nvPr/>
        </p:nvCxnSpPr>
        <p:spPr>
          <a:xfrm>
            <a:off x="5064810" y="514313"/>
            <a:ext cx="0" cy="5829374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04117008-058B-4950-B2C3-0EBDC7703818}"/>
              </a:ext>
            </a:extLst>
          </p:cNvPr>
          <p:cNvCxnSpPr/>
          <p:nvPr/>
        </p:nvCxnSpPr>
        <p:spPr>
          <a:xfrm>
            <a:off x="9182927" y="495019"/>
            <a:ext cx="0" cy="5829374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2" name="Conector reto 21">
            <a:extLst>
              <a:ext uri="{FF2B5EF4-FFF2-40B4-BE49-F238E27FC236}">
                <a16:creationId xmlns:a16="http://schemas.microsoft.com/office/drawing/2014/main" id="{C9650D09-3B2E-4A1D-A247-AFF9F3A05A2C}"/>
              </a:ext>
            </a:extLst>
          </p:cNvPr>
          <p:cNvCxnSpPr/>
          <p:nvPr/>
        </p:nvCxnSpPr>
        <p:spPr>
          <a:xfrm>
            <a:off x="5064809" y="6343687"/>
            <a:ext cx="4118117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Conector reto 23">
            <a:extLst>
              <a:ext uri="{FF2B5EF4-FFF2-40B4-BE49-F238E27FC236}">
                <a16:creationId xmlns:a16="http://schemas.microsoft.com/office/drawing/2014/main" id="{CC002CD9-2452-4F4C-AD0C-8350BA84C1C3}"/>
              </a:ext>
            </a:extLst>
          </p:cNvPr>
          <p:cNvCxnSpPr/>
          <p:nvPr/>
        </p:nvCxnSpPr>
        <p:spPr>
          <a:xfrm>
            <a:off x="74430" y="2105247"/>
            <a:ext cx="4625161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" name="Retângulo Arredondado 9"/>
          <p:cNvSpPr/>
          <p:nvPr/>
        </p:nvSpPr>
        <p:spPr>
          <a:xfrm>
            <a:off x="184533" y="2256640"/>
            <a:ext cx="4515058" cy="343109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</a:t>
            </a:r>
            <a:r>
              <a:rPr lang="pt-BR" b="1" dirty="0">
                <a:latin typeface="Algerian" panose="04020705040A02060702" pitchFamily="82" charset="0"/>
              </a:rPr>
              <a:t> 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arte barroca foca no drama e na 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emoção, utilizando o forte contraste de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luz e sombra (</a:t>
            </a:r>
            <a:r>
              <a:rPr lang="pt-BR" b="1" i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chiaroscuro</a:t>
            </a:r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) para criar 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impacto. Suas obras priorizam o movimento,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 o realismo detalhado e as expressões </a:t>
            </a:r>
          </a:p>
          <a:p>
            <a:r>
              <a:rPr lang="pt-BR" b="1" dirty="0">
                <a:solidFill>
                  <a:schemeClr val="accent5">
                    <a:lumMod val="75000"/>
                  </a:schemeClr>
                </a:solidFill>
                <a:latin typeface="Algerian" panose="04020705040A02060702" pitchFamily="82" charset="0"/>
              </a:rPr>
              <a:t>intensas para emocionar o espectador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993466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 Arredondado 23"/>
          <p:cNvSpPr/>
          <p:nvPr/>
        </p:nvSpPr>
        <p:spPr>
          <a:xfrm>
            <a:off x="483476" y="2394030"/>
            <a:ext cx="4077651" cy="343688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06599" y="514924"/>
            <a:ext cx="3854528" cy="1278466"/>
          </a:xfrm>
        </p:spPr>
        <p:txBody>
          <a:bodyPr>
            <a:normAutofit/>
          </a:bodyPr>
          <a:lstStyle/>
          <a:p>
            <a:r>
              <a:rPr lang="pt-BR" b="1" dirty="0" smtClean="0">
                <a:latin typeface="Algerian" panose="04020705040A02060702" pitchFamily="82" charset="0"/>
              </a:rPr>
              <a:t>        </a:t>
            </a:r>
            <a:r>
              <a:rPr lang="pt-BR" dirty="0" smtClean="0">
                <a:latin typeface="Algerian" panose="04020705040A02060702" pitchFamily="82" charset="0"/>
              </a:rPr>
              <a:t>Importância da arte </a:t>
            </a:r>
            <a:r>
              <a:rPr lang="pt-BR" b="1" dirty="0" smtClean="0">
                <a:latin typeface="Algerian" panose="04020705040A02060702" pitchFamily="82" charset="0"/>
              </a:rPr>
              <a:t/>
            </a:r>
            <a:br>
              <a:rPr lang="pt-BR" b="1" dirty="0" smtClean="0">
                <a:latin typeface="Algerian" panose="04020705040A02060702" pitchFamily="82" charset="0"/>
              </a:rPr>
            </a:br>
            <a:r>
              <a:rPr lang="pt-BR" sz="2400" b="1" dirty="0">
                <a:latin typeface="Algerian" panose="04020705040A02060702" pitchFamily="82" charset="0"/>
              </a:rPr>
              <a:t> </a:t>
            </a:r>
            <a:r>
              <a:rPr lang="pt-BR" sz="2400" b="1" dirty="0" smtClean="0">
                <a:latin typeface="Algerian" panose="04020705040A02060702" pitchFamily="82" charset="0"/>
              </a:rPr>
              <a:t>               Barroca</a:t>
            </a:r>
            <a:endParaRPr lang="pt-BR" b="1" dirty="0">
              <a:latin typeface="Algerian" panose="04020705040A02060702" pitchFamily="82" charset="0"/>
            </a:endParaRP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87695" y="2573503"/>
            <a:ext cx="3892336" cy="3475345"/>
          </a:xfrm>
        </p:spPr>
        <p:txBody>
          <a:bodyPr>
            <a:noAutofit/>
          </a:bodyPr>
          <a:lstStyle/>
          <a:p>
            <a:r>
              <a:rPr lang="pt-BR" sz="1800" b="1" dirty="0">
                <a:solidFill>
                  <a:schemeClr val="tx1">
                    <a:lumMod val="75000"/>
                  </a:schemeClr>
                </a:solidFill>
                <a:latin typeface="Algerian" panose="04020705040A02060702" pitchFamily="82" charset="0"/>
              </a:rPr>
              <a:t>foi fundamental por atuar como uma poderosa ferramenta de comunicação visual e política no século XVII. Desenvolvida no contexto da Contrarreforma Católica, ela buscava emocionar os fiéis e reafirmar o poder da Igreja por meio de contraste, dramaticidade e riqueza de detalhes</a:t>
            </a:r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B0E0C5F-14C2-405C-B64C-4F89509906DA}"/>
              </a:ext>
            </a:extLst>
          </p:cNvPr>
          <p:cNvCxnSpPr/>
          <p:nvPr/>
        </p:nvCxnSpPr>
        <p:spPr>
          <a:xfrm>
            <a:off x="1361534" y="1387365"/>
            <a:ext cx="2690648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AB0E0C5F-14C2-405C-B64C-4F89509906DA}"/>
              </a:ext>
            </a:extLst>
          </p:cNvPr>
          <p:cNvCxnSpPr/>
          <p:nvPr/>
        </p:nvCxnSpPr>
        <p:spPr>
          <a:xfrm>
            <a:off x="2007921" y="1704798"/>
            <a:ext cx="1397875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Arte barroca no Brasil – HiSoUR Arte Cultura Exposição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4250" y="746620"/>
            <a:ext cx="4493974" cy="5084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98917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77335" y="1652631"/>
            <a:ext cx="8596668" cy="218114"/>
          </a:xfrm>
        </p:spPr>
        <p:txBody>
          <a:bodyPr>
            <a:noAutofit/>
          </a:bodyPr>
          <a:lstStyle/>
          <a:p>
            <a:r>
              <a:rPr lang="pt-BR" sz="4000" dirty="0" smtClean="0">
                <a:latin typeface="Algerian" panose="04020705040A02060702" pitchFamily="82" charset="0"/>
              </a:rPr>
              <a:t>Os maiores nomes no brasil da  </a:t>
            </a:r>
            <a:br>
              <a:rPr lang="pt-BR" sz="4000" dirty="0" smtClean="0">
                <a:latin typeface="Algerian" panose="04020705040A02060702" pitchFamily="82" charset="0"/>
              </a:rPr>
            </a:br>
            <a:r>
              <a:rPr lang="pt-BR" sz="4000" dirty="0">
                <a:latin typeface="Algerian" panose="04020705040A02060702" pitchFamily="82" charset="0"/>
              </a:rPr>
              <a:t> </a:t>
            </a:r>
            <a:r>
              <a:rPr lang="pt-BR" sz="4000" dirty="0" smtClean="0">
                <a:latin typeface="Algerian" panose="04020705040A02060702" pitchFamily="82" charset="0"/>
              </a:rPr>
              <a:t>                arte</a:t>
            </a:r>
            <a:r>
              <a:rPr lang="pt-BR" sz="4000" dirty="0" smtClean="0"/>
              <a:t> </a:t>
            </a:r>
            <a:r>
              <a:rPr lang="pt-BR" sz="4000" b="1" dirty="0" smtClean="0">
                <a:latin typeface="Algerian" panose="04020705040A02060702" pitchFamily="82" charset="0"/>
              </a:rPr>
              <a:t>barroca</a:t>
            </a:r>
            <a:br>
              <a:rPr lang="pt-BR" sz="4000" b="1" dirty="0" smtClean="0">
                <a:latin typeface="Algerian" panose="04020705040A02060702" pitchFamily="82" charset="0"/>
              </a:rPr>
            </a:br>
            <a:endParaRPr lang="pt-BR" sz="4000" b="1" dirty="0">
              <a:latin typeface="Algerian" panose="04020705040A02060702" pitchFamily="82" charset="0"/>
            </a:endParaRP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77335" y="1375794"/>
            <a:ext cx="8596668" cy="4665568"/>
          </a:xfrm>
        </p:spPr>
        <p:txBody>
          <a:bodyPr>
            <a:normAutofit/>
          </a:bodyPr>
          <a:lstStyle/>
          <a:p>
            <a:endParaRPr lang="pt-BR" b="1" dirty="0">
              <a:solidFill>
                <a:schemeClr val="tx1"/>
              </a:solidFill>
              <a:latin typeface="Algerian" panose="04020705040A02060702" pitchFamily="82" charset="0"/>
            </a:endParaRPr>
          </a:p>
        </p:txBody>
      </p:sp>
      <p:cxnSp>
        <p:nvCxnSpPr>
          <p:cNvPr id="5" name="Conector reto 4"/>
          <p:cNvCxnSpPr/>
          <p:nvPr/>
        </p:nvCxnSpPr>
        <p:spPr>
          <a:xfrm>
            <a:off x="7130642" y="3708578"/>
            <a:ext cx="139257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tângulo Arredondado 6"/>
          <p:cNvSpPr/>
          <p:nvPr/>
        </p:nvSpPr>
        <p:spPr>
          <a:xfrm>
            <a:off x="884493" y="2254390"/>
            <a:ext cx="8182351" cy="324039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b="1" dirty="0">
                <a:solidFill>
                  <a:schemeClr val="tx1"/>
                </a:solidFill>
                <a:latin typeface="Algerian" panose="04020705040A02060702" pitchFamily="82" charset="0"/>
              </a:rPr>
              <a:t> No Brasil, os maiores nomes da literatura são Gregório de Matos e Padre      Antônio Vieira, enquanto nas artes plásticas destacam-se Aleijadinho e Mestre Ataíde. Internacionalmente, figuras como Caravaggio na pintura e Johann Sebastian Bach na música definiram o período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9145994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603320" y="441904"/>
            <a:ext cx="8596668" cy="1261145"/>
          </a:xfrm>
        </p:spPr>
        <p:txBody>
          <a:bodyPr>
            <a:normAutofit/>
          </a:bodyPr>
          <a:lstStyle/>
          <a:p>
            <a:r>
              <a:rPr lang="pt-BR" sz="5400" b="1" dirty="0" smtClean="0">
                <a:latin typeface="Algerian" panose="04020705040A02060702" pitchFamily="82" charset="0"/>
              </a:rPr>
              <a:t>Artistas e obras </a:t>
            </a:r>
            <a:endParaRPr lang="pt-BR" sz="5400" b="1" dirty="0">
              <a:latin typeface="Algerian" panose="04020705040A02060702" pitchFamily="82" charset="0"/>
            </a:endParaRP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692867" y="696369"/>
            <a:ext cx="7407477" cy="5721208"/>
          </a:xfrm>
        </p:spPr>
        <p:txBody>
          <a:bodyPr>
            <a:normAutofit/>
          </a:bodyPr>
          <a:lstStyle/>
          <a:p>
            <a:endParaRPr lang="pt-BR" b="1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b="1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b="1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b="1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r>
              <a:rPr lang="pt-BR" b="1" dirty="0" smtClean="0">
                <a:solidFill>
                  <a:schemeClr val="tx1"/>
                </a:solidFill>
                <a:latin typeface="Algerian" panose="04020705040A02060702" pitchFamily="82" charset="0"/>
              </a:rPr>
              <a:t>Caravaggio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(Itália)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: Pioneiro no uso realista da iluminação dramática de fundo escuro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. </a:t>
            </a:r>
            <a:r>
              <a:rPr lang="pt-BR" i="1" dirty="0" smtClean="0">
                <a:solidFill>
                  <a:schemeClr val="tx1"/>
                </a:solidFill>
                <a:latin typeface="Algerian" panose="04020705040A02060702" pitchFamily="82" charset="0"/>
              </a:rPr>
              <a:t>A </a:t>
            </a:r>
            <a:r>
              <a:rPr lang="pt-BR" i="1" dirty="0">
                <a:solidFill>
                  <a:schemeClr val="tx1"/>
                </a:solidFill>
                <a:latin typeface="Algerian" panose="04020705040A02060702" pitchFamily="82" charset="0"/>
              </a:rPr>
              <a:t>Vocação de São </a:t>
            </a:r>
            <a:r>
              <a:rPr lang="pt-BR" i="1" dirty="0" smtClean="0">
                <a:solidFill>
                  <a:schemeClr val="tx1"/>
                </a:solidFill>
                <a:latin typeface="Algerian" panose="04020705040A02060702" pitchFamily="82" charset="0"/>
              </a:rPr>
              <a:t>Mateus,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 </a:t>
            </a:r>
            <a:r>
              <a:rPr lang="pt-BR" i="1" dirty="0" smtClean="0">
                <a:solidFill>
                  <a:schemeClr val="tx1"/>
                </a:solidFill>
                <a:latin typeface="Algerian" panose="04020705040A02060702" pitchFamily="82" charset="0"/>
              </a:rPr>
              <a:t>A </a:t>
            </a:r>
            <a:r>
              <a:rPr lang="pt-BR" i="1" dirty="0">
                <a:solidFill>
                  <a:schemeClr val="tx1"/>
                </a:solidFill>
                <a:latin typeface="Algerian" panose="04020705040A02060702" pitchFamily="82" charset="0"/>
              </a:rPr>
              <a:t>Conversão de São </a:t>
            </a:r>
            <a:r>
              <a:rPr lang="pt-BR" i="1" dirty="0" smtClean="0">
                <a:solidFill>
                  <a:schemeClr val="tx1"/>
                </a:solidFill>
                <a:latin typeface="Algerian" panose="04020705040A02060702" pitchFamily="82" charset="0"/>
              </a:rPr>
              <a:t>Paulo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 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.</a:t>
            </a:r>
            <a:endParaRPr lang="pt-BR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 </a:t>
            </a:r>
            <a:r>
              <a:rPr lang="pt-BR" i="1" dirty="0">
                <a:solidFill>
                  <a:schemeClr val="tx1"/>
                </a:solidFill>
                <a:latin typeface="Algerian" panose="04020705040A02060702" pitchFamily="82" charset="0"/>
              </a:rPr>
              <a:t>A Vocação de São Mateus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 (1599-1600) mostra o momento em 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           que           Jesus 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convida Mateus, um cobrador de impostos, para ser seu discípulo [1]. A obra destaca-se por um feixe de luz diagonal marcante [1]. Essa luz rasga a 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 escuridão 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e direciona o olhar do espectador direto para o rosto de 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Mateus.</a:t>
            </a:r>
          </a:p>
          <a:p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 smtClean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88" y="1533690"/>
            <a:ext cx="2576602" cy="2431599"/>
          </a:xfrm>
          <a:prstGeom prst="rect">
            <a:avLst/>
          </a:prstGeom>
        </p:spPr>
      </p:pic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397295" y="4324696"/>
            <a:ext cx="6924268" cy="41857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lgerian" panose="04020705040A02060702" pitchFamily="82" charset="0"/>
              </a:rPr>
              <a:t>  Aleijadinho / Antônio Francisco Lisboa (Minas  Gerais)</a:t>
            </a:r>
            <a:r>
              <a:rPr kumimoji="0" lang="pt-BR" altLang="pt-B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lgerian" panose="04020705040A02060702" pitchFamily="82" charset="0"/>
              </a:rPr>
              <a:t>: Escultor e arquiteto, considerado o ápice do Barroco-Rococó brasileiro.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pt-BR" altLang="pt-BR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lgerian" panose="04020705040A02060702" pitchFamily="8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lgerian" panose="04020705040A02060702" pitchFamily="82" charset="0"/>
              </a:rPr>
              <a:t>Os Doze Profetas</a:t>
            </a:r>
            <a:r>
              <a:rPr kumimoji="0" lang="pt-BR" altLang="pt-BR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lgerian" panose="04020705040A02060702" pitchFamily="82" charset="0"/>
              </a:rPr>
              <a:t> (em pedra-sabão, em Congonhas)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lgerian" panose="04020705040A02060702" pitchFamily="82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i="1" dirty="0" smtClean="0">
                <a:latin typeface="Algerian" panose="04020705040A02060702" pitchFamily="82" charset="0"/>
              </a:rPr>
              <a:t>  Os </a:t>
            </a:r>
            <a:r>
              <a:rPr lang="pt-BR" i="1" dirty="0">
                <a:latin typeface="Algerian" panose="04020705040A02060702" pitchFamily="82" charset="0"/>
              </a:rPr>
              <a:t>Doze Profetas</a:t>
            </a:r>
            <a:r>
              <a:rPr lang="pt-BR" dirty="0">
                <a:latin typeface="Algerian" panose="04020705040A02060702" pitchFamily="82" charset="0"/>
              </a:rPr>
              <a:t> é um conjunto de </a:t>
            </a:r>
            <a:r>
              <a:rPr lang="pt-BR" b="1" dirty="0">
                <a:latin typeface="Algerian" panose="04020705040A02060702" pitchFamily="82" charset="0"/>
              </a:rPr>
              <a:t>12 esculturas em </a:t>
            </a:r>
            <a:r>
              <a:rPr lang="pt-BR" b="1" dirty="0" smtClean="0">
                <a:latin typeface="Algerian" panose="04020705040A02060702" pitchFamily="82" charset="0"/>
              </a:rPr>
              <a:t>  tamanho </a:t>
            </a:r>
            <a:r>
              <a:rPr lang="pt-BR" b="1" dirty="0">
                <a:latin typeface="Algerian" panose="04020705040A02060702" pitchFamily="82" charset="0"/>
              </a:rPr>
              <a:t>real</a:t>
            </a:r>
            <a:r>
              <a:rPr lang="pt-BR" dirty="0">
                <a:latin typeface="Algerian" panose="04020705040A02060702" pitchFamily="82" charset="0"/>
              </a:rPr>
              <a:t> feitas em pedra-sabão por </a:t>
            </a:r>
            <a:r>
              <a:rPr lang="pt-BR" dirty="0" smtClean="0">
                <a:latin typeface="Algerian" panose="04020705040A02060702" pitchFamily="82" charset="0"/>
              </a:rPr>
              <a:t>Aleijadinho.</a:t>
            </a:r>
            <a:endParaRPr kumimoji="0" lang="pt-BR" altLang="pt-BR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lgerian" panose="04020705040A02060702" pitchFamily="8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pt-BR" altLang="pt-BR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lgerian" panose="04020705040A02060702" pitchFamily="8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pt-BR" altLang="pt-BR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lgerian" panose="04020705040A02060702" pitchFamily="8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pic>
        <p:nvPicPr>
          <p:cNvPr id="7" name="Imagem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1563" y="4159549"/>
            <a:ext cx="2778781" cy="2698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90422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5331" y="-128631"/>
            <a:ext cx="9322342" cy="3403600"/>
          </a:xfrm>
        </p:spPr>
        <p:txBody>
          <a:bodyPr>
            <a:normAutofit/>
          </a:bodyPr>
          <a:lstStyle/>
          <a:p>
            <a:r>
              <a:rPr lang="pt-BR" sz="4800" b="1" dirty="0" smtClean="0">
                <a:latin typeface="Algerian" panose="04020705040A02060702" pitchFamily="82" charset="0"/>
              </a:rPr>
              <a:t>Caracteristicas Principais</a:t>
            </a:r>
            <a:endParaRPr lang="pt-BR" sz="4800" b="1" dirty="0">
              <a:latin typeface="Algerian" panose="04020705040A02060702" pitchFamily="82" charset="0"/>
            </a:endParaRP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77335" y="2835479"/>
            <a:ext cx="8596668" cy="3205883"/>
          </a:xfrm>
        </p:spPr>
        <p:txBody>
          <a:bodyPr/>
          <a:lstStyle/>
          <a:p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   O 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Barroco é a arte do conflito</a:t>
            </a:r>
            <a:r>
              <a:rPr lang="pt-BR" dirty="0" smtClean="0">
                <a:solidFill>
                  <a:schemeClr val="tx1"/>
                </a:solidFill>
                <a:latin typeface="Algerian" panose="04020705040A02060702" pitchFamily="82" charset="0"/>
              </a:rPr>
              <a:t>.  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Suas principais características são o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contraste entre luz e sombra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 (claro-escuro) e o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forte drama emocional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.</a:t>
            </a:r>
          </a:p>
          <a:p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O estilo rejeita a simetria para focar no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movimento e linhas curvas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, criando cenas teatrais e realistas que expressam a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tensão entre o sagrado e o pecado</a:t>
            </a:r>
            <a:r>
              <a:rPr lang="pt-BR" dirty="0">
                <a:solidFill>
                  <a:schemeClr val="tx1"/>
                </a:solidFill>
                <a:latin typeface="Algerian" panose="04020705040A02060702" pitchFamily="82" charset="0"/>
              </a:rPr>
              <a:t>. Na literatura, destaca-se pelo uso de </a:t>
            </a:r>
            <a:r>
              <a:rPr lang="pt-BR" b="1" dirty="0">
                <a:solidFill>
                  <a:schemeClr val="tx1"/>
                </a:solidFill>
                <a:latin typeface="Algerian" panose="04020705040A02060702" pitchFamily="82" charset="0"/>
              </a:rPr>
              <a:t>metáforas complexas e linguagem rebuscada</a:t>
            </a:r>
            <a:endParaRPr lang="pt-BR" dirty="0">
              <a:solidFill>
                <a:schemeClr val="tx1"/>
              </a:solidFill>
              <a:latin typeface="Algerian" panose="04020705040A02060702" pitchFamily="82" charset="0"/>
            </a:endParaRPr>
          </a:p>
          <a:p>
            <a:endParaRPr lang="pt-BR" dirty="0"/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Matéria vs. Espírito</a:t>
            </a:r>
            <a:r>
              <a:rPr kumimoji="0" lang="pt-BR" altLang="pt-BR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: o desejo de aproveitar a vida terrena (</a:t>
            </a:r>
            <a:r>
              <a:rPr kumimoji="0" lang="pt-BR" altLang="pt-BR" sz="1200" b="0" i="1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carpe diem</a:t>
            </a:r>
            <a:r>
              <a:rPr kumimoji="0" lang="pt-BR" altLang="pt-BR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) contra o medo do inferno e da morte (</a:t>
            </a:r>
            <a:r>
              <a:rPr kumimoji="0" lang="pt-BR" altLang="pt-BR" sz="1200" b="0" i="1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memento mori</a:t>
            </a:r>
            <a:r>
              <a:rPr kumimoji="0" lang="pt-BR" altLang="pt-BR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200" b="1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Razão vs. Fé</a:t>
            </a:r>
            <a:r>
              <a:rPr kumimoji="0" lang="pt-BR" altLang="pt-BR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: o choque entre o pensamento científico emergente e os dogmas religiosos tradicionais.</a:t>
            </a:r>
            <a:r>
              <a:rPr kumimoji="0" lang="pt-BR" altLang="pt-BR" sz="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pt-BR" altLang="pt-BR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436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ado">
  <a:themeElements>
    <a:clrScheme name="Personalizada 1">
      <a:dk1>
        <a:srgbClr val="73320B"/>
      </a:dk1>
      <a:lt1>
        <a:sysClr val="window" lastClr="FFFFFF"/>
      </a:lt1>
      <a:dk2>
        <a:srgbClr val="2C3C43"/>
      </a:dk2>
      <a:lt2>
        <a:srgbClr val="EBEBEB"/>
      </a:lt2>
      <a:accent1>
        <a:srgbClr val="73320B"/>
      </a:accent1>
      <a:accent2>
        <a:srgbClr val="73320B"/>
      </a:accent2>
      <a:accent3>
        <a:srgbClr val="73320B"/>
      </a:accent3>
      <a:accent4>
        <a:srgbClr val="73320B"/>
      </a:accent4>
      <a:accent5>
        <a:srgbClr val="73320B"/>
      </a:accent5>
      <a:accent6>
        <a:srgbClr val="73320B"/>
      </a:accent6>
      <a:hlink>
        <a:srgbClr val="755D0C"/>
      </a:hlink>
      <a:folHlink>
        <a:srgbClr val="73320B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178</TotalTime>
  <Words>447</Words>
  <Application>Microsoft Office PowerPoint</Application>
  <PresentationFormat>Widescreen</PresentationFormat>
  <Paragraphs>46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Algerian</vt:lpstr>
      <vt:lpstr>Arial</vt:lpstr>
      <vt:lpstr>Google Sans</vt:lpstr>
      <vt:lpstr>Trebuchet MS</vt:lpstr>
      <vt:lpstr>Wingdings 3</vt:lpstr>
      <vt:lpstr>Facetado</vt:lpstr>
      <vt:lpstr> Barroco</vt:lpstr>
      <vt:lpstr>o que é o barroco?</vt:lpstr>
      <vt:lpstr>Imagem ilustrativa da arte                                  barroca</vt:lpstr>
      <vt:lpstr>        Importância da arte                  Barroca</vt:lpstr>
      <vt:lpstr>Os maiores nomes no brasil da                    arte barroca </vt:lpstr>
      <vt:lpstr>Artistas e obras </vt:lpstr>
      <vt:lpstr>Caracteristicas Principais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Barroco</dc:title>
  <dc:creator>Aluno</dc:creator>
  <cp:lastModifiedBy>Fatec</cp:lastModifiedBy>
  <cp:revision>13</cp:revision>
  <dcterms:created xsi:type="dcterms:W3CDTF">2026-05-11T17:50:15Z</dcterms:created>
  <dcterms:modified xsi:type="dcterms:W3CDTF">2026-05-28T18:21:00Z</dcterms:modified>
</cp:coreProperties>
</file>