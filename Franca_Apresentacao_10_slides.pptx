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56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5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5328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927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0079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6266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356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6213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7672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2919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654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586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3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361239-3C8B-489D-90E9-E093746E79AC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46A9B-7171-4E9A-9823-26DDE7204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3777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tângulo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660">
              <a:alpha val="5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0"/>
            <a:ext cx="7429500" cy="6858000"/>
          </a:xfrm>
          <a:prstGeom prst="rect">
            <a:avLst/>
          </a:prstGeom>
          <a:solidFill>
            <a:srgbClr val="001660">
              <a:alpha val="6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762000" y="13716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1200" b="1" smtClean="0">
                <a:solidFill>
                  <a:srgbClr val="FFD65A"/>
                </a:solidFill>
                <a:latin typeface="Segoe UI" panose="020B0502040204020203" pitchFamily="34" charset="0"/>
              </a:rPr>
              <a:t>APRESENTAÇÃO • 10 SLIDES</a:t>
            </a:r>
            <a:endParaRPr lang="pt-BR" sz="1200" b="1">
              <a:solidFill>
                <a:srgbClr val="FFD65A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698500" y="1752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7600" b="1" smtClean="0">
                <a:solidFill>
                  <a:srgbClr val="FFFFFF"/>
                </a:solidFill>
                <a:latin typeface="Georgia" panose="02040502050405020303" pitchFamily="18" charset="0"/>
              </a:rPr>
              <a:t>FRANÇA</a:t>
            </a:r>
            <a:endParaRPr lang="pt-BR" sz="7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7" name="Retângulo 6"/>
          <p:cNvSpPr/>
          <p:nvPr/>
        </p:nvSpPr>
        <p:spPr>
          <a:xfrm>
            <a:off x="762000" y="3403600"/>
            <a:ext cx="939800" cy="889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/>
          <p:cNvSpPr/>
          <p:nvPr/>
        </p:nvSpPr>
        <p:spPr>
          <a:xfrm>
            <a:off x="1765300" y="3403600"/>
            <a:ext cx="9398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2768600" y="3403600"/>
            <a:ext cx="939800" cy="889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/>
          <p:cNvSpPr txBox="1"/>
          <p:nvPr/>
        </p:nvSpPr>
        <p:spPr>
          <a:xfrm>
            <a:off x="762000" y="3810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pt-BR" sz="1700" smtClean="0">
                <a:solidFill>
                  <a:srgbClr val="FFFFFF"/>
                </a:solidFill>
                <a:latin typeface="Segoe UI" panose="020B0502040204020203" pitchFamily="34" charset="0"/>
              </a:rPr>
              <a:t>A história, os costumes, a culinária e as curiosidades do país da Torre Eiffel, do vinho e da baguete.</a:t>
            </a:r>
            <a:endParaRPr lang="pt-BR" sz="17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62000" y="5334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1150" b="1" smtClean="0">
                <a:solidFill>
                  <a:srgbClr val="E2E8F5"/>
                </a:solidFill>
                <a:latin typeface="Segoe UI" panose="020B0502040204020203" pitchFamily="34" charset="0"/>
              </a:rPr>
              <a:t>Origens • Hábitos • Curiosidades • Culinária • Tradições • Idioma e traduções • Diversidade</a:t>
            </a:r>
            <a:endParaRPr lang="pt-BR" sz="1150" b="1">
              <a:solidFill>
                <a:srgbClr val="E2E8F5"/>
              </a:solidFill>
              <a:latin typeface="Segoe UI" panose="020B0502040204020203" pitchFamily="34" charset="0"/>
            </a:endParaRPr>
          </a:p>
        </p:txBody>
      </p:sp>
      <p:pic>
        <p:nvPicPr>
          <p:cNvPr id="12" name="Imagem 11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00" y="508000"/>
            <a:ext cx="1778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1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1. Origens: das Galias à França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02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594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Povos celtas (gaulos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) — habitavam a Gália, de onde vem o apelido "gauleses": druidas, oppida (cidades fortificadas) e ferro trabalhado.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Conquista romana (52 a.C.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) — Júlio César domina a Gália. Latim, estradas, cidades e direito romano passam a moldar a região.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Reino dos francos (séc. V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) — Clóvis une as tribos francas e se batiza em 496. Delas vêm o nome "France" e o galo como símbolo.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Tratado de Verdun (843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) — divide o império de Carlos Magno e cria a Francia ocidental, embrião da França atual.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Normandos e viking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as invasões nórdicas dos séculos IX e X dão origem à Normandia, a "terra dos homens do norte".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Do latim ao francê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o latim popular vira francês antigo; o Édit de Villers-Cotterêts (1539) impõe a língua francesa na corte.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7340600" y="1333500"/>
            <a:ext cx="4241800" cy="37973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1422400"/>
            <a:ext cx="4064000" cy="3619500"/>
          </a:xfrm>
          <a:prstGeom prst="rect">
            <a:avLst/>
          </a:prstGeom>
        </p:spPr>
      </p:pic>
      <p:sp>
        <p:nvSpPr>
          <p:cNvPr id="14" name="CaixaDeTexto 13"/>
          <p:cNvSpPr txBox="1"/>
          <p:nvPr/>
        </p:nvSpPr>
        <p:spPr>
          <a:xfrm>
            <a:off x="7429500" y="51943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Estatua de Vercingetorix em Alesia, o chefe gauleso que enfrentou Roma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Retângulo 14"/>
          <p:cNvSpPr/>
          <p:nvPr/>
        </p:nvSpPr>
        <p:spPr>
          <a:xfrm>
            <a:off x="7429500" y="5651500"/>
            <a:ext cx="4064000" cy="609600"/>
          </a:xfrm>
          <a:prstGeom prst="rect">
            <a:avLst/>
          </a:prstGeom>
          <a:solidFill>
            <a:srgbClr val="E8EEFA"/>
          </a:solidFill>
          <a:ln w="12700" cap="flat" cmpd="sng" algn="ctr">
            <a:solidFill>
              <a:srgbClr val="00239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7581900" y="57531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pt-BR" sz="1100" smtClean="0">
                <a:solidFill>
                  <a:srgbClr val="001660"/>
                </a:solidFill>
                <a:latin typeface="Segoe UI" panose="020B0502040204020203" pitchFamily="34" charset="0"/>
              </a:rPr>
              <a:t>O nome "France" vem dos francos, povo germânico que fundou o reino medieval.</a:t>
            </a:r>
            <a:endParaRPr lang="pt-BR" sz="1100">
              <a:solidFill>
                <a:srgbClr val="00166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68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2. Linha do tempo da história francesa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03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Séc. V ao 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X — dinastias merovíngia e carolíngia; Carlos Magno é coroado imperador no ano 800.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Idade Médi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a — catedrais, cruzadas e a Universidade de Paris (Sorbonne, 1200); Guilherme, o Conquistador, era duque da Normandia.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1337 – 145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3 — Guerra dos Cem Anos com a Inglaterra; Joana d'Arc liberta Orléans em 1429.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178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9 — Revolução Francesa: queda da Bastilha, Declaração dos Direitos do Homem e lema "Liberté, Égalité, Fraternité".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1804 – 181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5 — Napoleão Bonaparte se coroa imperador e espalha o Código Civil pela Europa; é derrotado em Waterloo.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1870 – 194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5 — Terceira República, industrialização, duas guerras mundiais e a Libertação de Paris em 1944.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00" b="1" smtClean="0">
                <a:solidFill>
                  <a:srgbClr val="002395"/>
                </a:solidFill>
                <a:latin typeface="Segoe UI" panose="020B0502040204020203" pitchFamily="34" charset="0"/>
              </a:rPr>
              <a:t> 1958 – hoj</a:t>
            </a:r>
            <a:r>
              <a:rPr lang="pt-BR" sz="1300" smtClean="0">
                <a:solidFill>
                  <a:srgbClr val="1A1A2E"/>
                </a:solidFill>
                <a:latin typeface="Segoe UI" panose="020B0502040204020203" pitchFamily="34" charset="0"/>
              </a:rPr>
              <a:t>e — Charles de Gaulle instala a V República, forma de governo que vigora até hoje.</a:t>
            </a:r>
            <a:endParaRPr lang="pt-BR" sz="130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7086600" y="1333500"/>
            <a:ext cx="4495800" cy="37973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0" y="1422400"/>
            <a:ext cx="4318000" cy="3619500"/>
          </a:xfrm>
          <a:prstGeom prst="rect">
            <a:avLst/>
          </a:prstGeom>
        </p:spPr>
      </p:pic>
      <p:sp>
        <p:nvSpPr>
          <p:cNvPr id="14" name="CaixaDeTexto 13"/>
          <p:cNvSpPr txBox="1"/>
          <p:nvPr/>
        </p:nvSpPr>
        <p:spPr>
          <a:xfrm>
            <a:off x="7175500" y="51943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A tomada da Bastilha, 14 de julho de 1789, inicio da Revolucao Francesa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CaixaDeTexto 14"/>
          <p:cNvSpPr txBox="1"/>
          <p:nvPr/>
        </p:nvSpPr>
        <p:spPr>
          <a:xfrm>
            <a:off x="7175500" y="56769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pt-BR" sz="1100" smtClean="0">
                <a:solidFill>
                  <a:srgbClr val="606474"/>
                </a:solidFill>
                <a:latin typeface="Segoe UI" panose="020B0502040204020203" pitchFamily="34" charset="0"/>
              </a:rPr>
              <a:t>"Liberté, Égalité, Fraternité" é o lema nacional desde a Revolução e aparece nos prédios públicos.</a:t>
            </a:r>
            <a:endParaRPr lang="pt-BR" sz="110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85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3. Geografia, símbolos e o "Hexágono"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04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6032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Tamanh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o — 552 mil km² na Europa (oito vezes menor que o Brasil) e cerca de 68 milhões de habitantes.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Vizinho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Bélgica, Luxemburgo, Alemanha, Suíça, Itália e Espanha, além dos micro-estados Mônaco e Andorra.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Água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Canal da Mancha, Oceano Atlântico e Mar Mediterrâneo; rios Sena, Loire, Ródano e Reno.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18 regiõe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13 na metrópole e 5 no ultramar: Guadalupe, Martinica, Guiana Francesa, Reunião e Mayotte.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Paisagen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Alpes (Mont Blanc, 4.808 m), planícies do norte, vinhas da Borgonha, lavandas da Provença e a Córsega.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Símbolo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bandeira tricolor (1794), hino La Marseillaise, galo gaulês e Marianne, a figura da República.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7023100" y="1333500"/>
            <a:ext cx="4559300" cy="3860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422400"/>
            <a:ext cx="4381500" cy="3683000"/>
          </a:xfrm>
          <a:prstGeom prst="rect">
            <a:avLst/>
          </a:prstGeom>
        </p:spPr>
      </p:pic>
      <p:pic>
        <p:nvPicPr>
          <p:cNvPr id="14" name="Imagem 13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4318000"/>
            <a:ext cx="1244600" cy="889000"/>
          </a:xfrm>
          <a:prstGeom prst="rect">
            <a:avLst/>
          </a:prstGeom>
        </p:spPr>
      </p:pic>
      <p:sp>
        <p:nvSpPr>
          <p:cNvPr id="15" name="CaixaDeTexto 14"/>
          <p:cNvSpPr txBox="1"/>
          <p:nvPr/>
        </p:nvSpPr>
        <p:spPr>
          <a:xfrm>
            <a:off x="7112000" y="5359400"/>
            <a:ext cx="4381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pt-BR" sz="1150" smtClean="0">
                <a:solidFill>
                  <a:srgbClr val="606474"/>
                </a:solidFill>
                <a:latin typeface="Segoe UI" panose="020B0502040204020203" pitchFamily="34" charset="0"/>
              </a:rPr>
              <a:t>Chamado de "Hexágono" por ter seis lados, a França tem 12 fusos horários quando se somam os territórios ultramarinos.</a:t>
            </a:r>
            <a:endParaRPr lang="pt-BR" sz="11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3720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4. Hábitos e costumes dos franceses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05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Petit déjeune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r — café da manhã leve: baguete ou croissant com manteiga e geleia, mais café com leite.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Horários das refeiçõe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almoço das 12h às 14h e jantar a partir das 19h30; a refeição é hora de conversa, não de pressa.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Etiquet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a — cumprimentar com "bonjour" ao entrar em lojas e restaurantes; entre conhecidos, "la bise" (beijo na bochecha).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Trabalho e laze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r — semana de 35 horas, 5 semanas de férias e muitas greves: protestar é uma tradição política.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Fim de seman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a — sábado é dia de mercado, queijaria e feira; domingo as lojas ficam fechadas e a família se reúne.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Art de vivr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e — o Estado protege língua, culinária e patrimônio: vinhos, queijos e festivais fazem parte do dia a dia.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7023100" y="1333500"/>
            <a:ext cx="4559300" cy="335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422400"/>
            <a:ext cx="4381500" cy="3175000"/>
          </a:xfrm>
          <a:prstGeom prst="rect">
            <a:avLst/>
          </a:prstGeom>
        </p:spPr>
      </p:pic>
      <p:sp>
        <p:nvSpPr>
          <p:cNvPr id="14" name="CaixaDeTexto 13"/>
          <p:cNvSpPr txBox="1"/>
          <p:nvPr/>
        </p:nvSpPr>
        <p:spPr>
          <a:xfrm>
            <a:off x="7112000" y="4749800"/>
            <a:ext cx="4381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Cafe de Flore, em Paris: sentar na mesa da calçada e observar a rua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pic>
        <p:nvPicPr>
          <p:cNvPr id="15" name="Imagem 14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0" y="5232400"/>
            <a:ext cx="1104900" cy="762000"/>
          </a:xfrm>
          <a:prstGeom prst="rect">
            <a:avLst/>
          </a:prstGeom>
        </p:spPr>
      </p:pic>
      <p:pic>
        <p:nvPicPr>
          <p:cNvPr id="16" name="Imagem 15"/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5500" y="5143500"/>
            <a:ext cx="1333500" cy="1028700"/>
          </a:xfrm>
          <a:prstGeom prst="rect">
            <a:avLst/>
          </a:prstGeom>
        </p:spPr>
      </p:pic>
      <p:pic>
        <p:nvPicPr>
          <p:cNvPr id="17" name="Imagem 16"/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500" y="5461000"/>
            <a:ext cx="13970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947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5. Curiosidades sobre a França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06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Torre Eiffe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l — montada para a Exposição Universal de 1889 e ia ser desmontada em 1909; cresce cerca de 15 cm no verão e tem mais de 20 mil lâmpadas.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Mont Saint-Miche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l — a abadia "vira ilha" na maré alta: o nível da água pode subir até 14 metros.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Turismo record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e — a França é o país mais visitado do mundo, com quase 100 milhões de turistas por ano.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Queijos e pã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o — mais de 1.000 variedades de queijos e cerca de 30 kg por pessoa por ano; a baguete virou patrimônio da UNESCO em 2022.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Galo gaulê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símbolo da França desde a Idade Média: no latim, "gallus" significa galo e gauleso ao mesmo tempo.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Sorbonn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e — a Universidade de Paris, fundada em 1200, é uma das mais antigas da Europa.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7023100" y="1333500"/>
            <a:ext cx="4559300" cy="2844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422400"/>
            <a:ext cx="4381500" cy="2667000"/>
          </a:xfrm>
          <a:prstGeom prst="rect">
            <a:avLst/>
          </a:prstGeom>
        </p:spPr>
      </p:pic>
      <p:sp>
        <p:nvSpPr>
          <p:cNvPr id="14" name="CaixaDeTexto 13"/>
          <p:cNvSpPr txBox="1"/>
          <p:nvPr/>
        </p:nvSpPr>
        <p:spPr>
          <a:xfrm>
            <a:off x="7112000" y="4241800"/>
            <a:ext cx="4381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Mont Saint-Michel: maré alta vira maré baixa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pic>
        <p:nvPicPr>
          <p:cNvPr id="15" name="Imagem 14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500" y="4635500"/>
            <a:ext cx="1041400" cy="1587500"/>
          </a:xfrm>
          <a:prstGeom prst="rect">
            <a:avLst/>
          </a:prstGeom>
        </p:spPr>
      </p:pic>
      <p:sp>
        <p:nvSpPr>
          <p:cNvPr id="16" name="CaixaDeTexto 15"/>
          <p:cNvSpPr txBox="1"/>
          <p:nvPr/>
        </p:nvSpPr>
        <p:spPr>
          <a:xfrm>
            <a:off x="8572500" y="46736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pt-BR" sz="1150" smtClean="0">
                <a:solidFill>
                  <a:srgbClr val="606474"/>
                </a:solidFill>
                <a:latin typeface="Segoe UI" panose="020B0502040204020203" pitchFamily="34" charset="0"/>
              </a:rPr>
              <a:t>A França tem 12 fusos horários (recorde mundial), mais de 46 mil castelos e a maior rede de metrô e trem de alta velocidade da Europa.</a:t>
            </a:r>
            <a:endParaRPr lang="pt-BR" sz="11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58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6. Culinária francesa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07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Refeição clássic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a — entrée (entrada), plat (prato principal), fromage (queijos) e dessert (sobremesa).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Pratos famoso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coq au vin, bouillabaisse de Marselha, ratatouille, pot-au-feu, quiche lorraine, escargot e foie gras.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Pãe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baguette, croissant, brioche e as crêpes da Bretanha.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Queijo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Brie, Camembert, Roquefort, Comté e Gruyère, entre mais de mil variedades.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Vinho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Bordeaux, Borgonha, Champagne e Alsácia, com controle de origem (AOP/AOC).</a:t>
            </a:r>
          </a:p>
          <a:p>
            <a:pPr marL="215900" indent="-215900">
              <a:lnSpc>
                <a:spcPct val="112000"/>
              </a:lnSpc>
              <a:spcAft>
                <a:spcPts val="10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Doce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macaron, crème brûlée, tarte tatin, éclair e mille-feuille.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698500" y="5308600"/>
            <a:ext cx="5016500" cy="939800"/>
          </a:xfrm>
          <a:prstGeom prst="rect">
            <a:avLst/>
          </a:prstGeom>
          <a:solidFill>
            <a:srgbClr val="E8EEFA"/>
          </a:solidFill>
          <a:ln w="12700" cap="flat" cmpd="sng" algn="ctr">
            <a:solidFill>
              <a:srgbClr val="00239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/>
          <p:cNvSpPr txBox="1"/>
          <p:nvPr/>
        </p:nvSpPr>
        <p:spPr>
          <a:xfrm>
            <a:off x="863600" y="5422900"/>
            <a:ext cx="469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pt-BR" sz="1100" smtClean="0">
                <a:solidFill>
                  <a:srgbClr val="001660"/>
                </a:solidFill>
                <a:latin typeface="Segoe UI" panose="020B0502040204020203" pitchFamily="34" charset="0"/>
              </a:rPr>
              <a:t>"Como governar um país que tem 400 tipos de queijo?" — Charles de Gaulle. A refeição francesa é patrimônio da humanidade (UNESCO, 2010).</a:t>
            </a:r>
            <a:endParaRPr lang="pt-BR" sz="1100">
              <a:solidFill>
                <a:srgbClr val="001660"/>
              </a:solidFill>
              <a:latin typeface="Segoe UI" panose="020B0502040204020203" pitchFamily="34" charset="0"/>
            </a:endParaRPr>
          </a:p>
        </p:txBody>
      </p:sp>
      <p:pic>
        <p:nvPicPr>
          <p:cNvPr id="14" name="Imagem 13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500" y="5410200"/>
            <a:ext cx="1143000" cy="736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6959600" y="1333500"/>
            <a:ext cx="4622800" cy="20193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00" y="1422400"/>
            <a:ext cx="4445000" cy="1841500"/>
          </a:xfrm>
          <a:prstGeom prst="rect">
            <a:avLst/>
          </a:prstGeom>
        </p:spPr>
      </p:pic>
      <p:sp>
        <p:nvSpPr>
          <p:cNvPr id="17" name="CaixaDeTexto 16"/>
          <p:cNvSpPr txBox="1"/>
          <p:nvPr/>
        </p:nvSpPr>
        <p:spPr>
          <a:xfrm>
            <a:off x="7048500" y="34163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Croissant e cafe: o cafe da manha frances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6959600" y="3784600"/>
            <a:ext cx="2908300" cy="20193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9" name="Imagem 18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00" y="3873500"/>
            <a:ext cx="2730500" cy="1841500"/>
          </a:xfrm>
          <a:prstGeom prst="rect">
            <a:avLst/>
          </a:prstGeom>
        </p:spPr>
      </p:pic>
      <p:sp>
        <p:nvSpPr>
          <p:cNvPr id="20" name="CaixaDeTexto 19"/>
          <p:cNvSpPr txBox="1"/>
          <p:nvPr/>
        </p:nvSpPr>
        <p:spPr>
          <a:xfrm>
            <a:off x="7048500" y="5867400"/>
            <a:ext cx="2730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Prato de queijos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9944100" y="3784600"/>
            <a:ext cx="1638300" cy="20193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2" name="Imagem 21"/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3000" y="3873500"/>
            <a:ext cx="1460500" cy="1841500"/>
          </a:xfrm>
          <a:prstGeom prst="rect">
            <a:avLst/>
          </a:prstGeom>
        </p:spPr>
      </p:pic>
      <p:sp>
        <p:nvSpPr>
          <p:cNvPr id="23" name="CaixaDeTexto 22"/>
          <p:cNvSpPr txBox="1"/>
          <p:nvPr/>
        </p:nvSpPr>
        <p:spPr>
          <a:xfrm>
            <a:off x="10033000" y="5867400"/>
            <a:ext cx="1460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Vinho de Bordeaux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734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7. Tradições e festas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08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14 de julho — Fête National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e — desfile nos Champs-Élysées e fogo de artifício na Torre Eiffel; comemora a Queda da Bastilha (1789).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Réveillo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n — noite de Natal e de Ano Novo: foie gras, ostras, bûche de Noël e a contagem regressiva na Champs-Élysées.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Pâque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o Père Noël deixa os presentes e as crianças caçam ovos de chocolate pelo jardim.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Fête de la Musiqu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e — em 21 de junho, o solstício de verão, bandas e DJs ocupam ruas e praças de todo o país.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Festivais de verã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o — Tour de France (julho), Festival de Cinema de Cannes (maio) e Festival de Avignon (julho).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Dias de memóri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a — 1º de maio (lírio-do-vale), Toussaint em 1º de novembro e o Armistício de 11 de novembro.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7023100" y="1333500"/>
            <a:ext cx="4559300" cy="3479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422400"/>
            <a:ext cx="4381500" cy="3302000"/>
          </a:xfrm>
          <a:prstGeom prst="rect">
            <a:avLst/>
          </a:prstGeom>
        </p:spPr>
      </p:pic>
      <p:sp>
        <p:nvSpPr>
          <p:cNvPr id="14" name="CaixaDeTexto 13"/>
          <p:cNvSpPr txBox="1"/>
          <p:nvPr/>
        </p:nvSpPr>
        <p:spPr>
          <a:xfrm>
            <a:off x="7112000" y="4876800"/>
            <a:ext cx="4381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Fogo de artificio na Torre Eiffel no dia 14 de julho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pic>
        <p:nvPicPr>
          <p:cNvPr id="15" name="Imagem 14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5270500"/>
            <a:ext cx="1244600" cy="889000"/>
          </a:xfrm>
          <a:prstGeom prst="rect">
            <a:avLst/>
          </a:prstGeom>
        </p:spPr>
      </p:pic>
      <p:sp>
        <p:nvSpPr>
          <p:cNvPr id="16" name="CaixaDeTexto 15"/>
          <p:cNvSpPr txBox="1"/>
          <p:nvPr/>
        </p:nvSpPr>
        <p:spPr>
          <a:xfrm>
            <a:off x="8826500" y="53086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pt-BR" sz="1150" smtClean="0">
                <a:solidFill>
                  <a:srgbClr val="606474"/>
                </a:solidFill>
                <a:latin typeface="Segoe UI" panose="020B0502040204020203" pitchFamily="34" charset="0"/>
              </a:rPr>
              <a:t>Outros feriados: 8 de maio (fim da II Guerra), 15 de agosto e 25 de dezembro.</a:t>
            </a:r>
            <a:endParaRPr lang="pt-BR" sz="11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0814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8. O idioma francês e traduções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09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124124"/>
              </p:ext>
            </p:extLst>
          </p:nvPr>
        </p:nvGraphicFramePr>
        <p:xfrm>
          <a:off x="698500" y="1422400"/>
          <a:ext cx="59690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500">
                  <a:extLst>
                    <a:ext uri="{9D8B030D-6E8A-4147-A177-3AD203B41FA5}">
                      <a16:colId xmlns:a16="http://schemas.microsoft.com/office/drawing/2014/main" val="4274923540"/>
                    </a:ext>
                  </a:extLst>
                </a:gridCol>
                <a:gridCol w="2984500">
                  <a:extLst>
                    <a:ext uri="{9D8B030D-6E8A-4147-A177-3AD203B41FA5}">
                      <a16:colId xmlns:a16="http://schemas.microsoft.com/office/drawing/2014/main" val="19455795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PORTUGUÊS</a:t>
                      </a:r>
                      <a:endParaRPr lang="pt-BR" sz="13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00239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FRANCÊS</a:t>
                      </a:r>
                      <a:endParaRPr lang="pt-BR" sz="13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0023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44124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Olá (de dia)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Bonjour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221999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Bom dia / Boa noite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Bonjour / Bonne nuit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16791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Obrigado(a)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Merci (beaucoup)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27377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Por favor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S'il vous plaît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21600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Com licença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Excusez-moi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25513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Eu não entendo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Je ne comprends pas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44077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Quanto custa?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Combien ça coûte ?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15207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Saúde! (brinde)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Santé !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E8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7854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pt-BR" sz="1300" b="0" smtClean="0">
                          <a:solidFill>
                            <a:srgbClr val="1A1A2E"/>
                          </a:solidFill>
                          <a:latin typeface="Segoe UI" panose="020B0502040204020203" pitchFamily="34" charset="0"/>
                        </a:rPr>
                        <a:t>Até logo / Tchau</a:t>
                      </a:r>
                      <a:endParaRPr lang="pt-BR" sz="1300" b="0">
                        <a:solidFill>
                          <a:srgbClr val="1A1A2E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300" b="1" smtClean="0">
                          <a:solidFill>
                            <a:srgbClr val="001660"/>
                          </a:solidFill>
                          <a:latin typeface="Segoe UI" panose="020B0502040204020203" pitchFamily="34" charset="0"/>
                        </a:rPr>
                        <a:t>Au revoir / Salut</a:t>
                      </a:r>
                      <a:endParaRPr lang="pt-BR" sz="1300" b="1">
                        <a:solidFill>
                          <a:srgbClr val="00166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9449914"/>
                  </a:ext>
                </a:extLst>
              </a:tr>
            </a:tbl>
          </a:graphicData>
        </a:graphic>
      </p:graphicFrame>
      <p:sp>
        <p:nvSpPr>
          <p:cNvPr id="12" name="CaixaDeTexto 11"/>
          <p:cNvSpPr txBox="1"/>
          <p:nvPr/>
        </p:nvSpPr>
        <p:spPr>
          <a:xfrm>
            <a:off x="698500" y="52578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pt-BR" sz="1150" smtClean="0">
                <a:solidFill>
                  <a:srgbClr val="606474"/>
                </a:solidFill>
                <a:latin typeface="Segoe UI" panose="020B0502040204020203" pitchFamily="34" charset="0"/>
              </a:rPr>
              <a:t>O francês é língua oficial da França e é falado por mais de 300 milhões de pessoas; é oficial em 29 países e nas organizações internacionais (ONU, UNESCO e União Europeia).</a:t>
            </a:r>
            <a:endParaRPr lang="pt-BR" sz="11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7023100" y="1333500"/>
            <a:ext cx="4559300" cy="24003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422400"/>
            <a:ext cx="4381500" cy="2222500"/>
          </a:xfrm>
          <a:prstGeom prst="rect">
            <a:avLst/>
          </a:prstGeom>
        </p:spPr>
      </p:pic>
      <p:sp>
        <p:nvSpPr>
          <p:cNvPr id="15" name="CaixaDeTexto 14"/>
          <p:cNvSpPr txBox="1"/>
          <p:nvPr/>
        </p:nvSpPr>
        <p:spPr>
          <a:xfrm>
            <a:off x="7112000" y="3797300"/>
            <a:ext cx="4381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Institut de France, sede da Academie Francesa, que cuida da lingua desde 1635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7112000" y="4254500"/>
            <a:ext cx="4381500" cy="1905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ED293A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CaixaDeTexto 16"/>
          <p:cNvSpPr txBox="1"/>
          <p:nvPr/>
        </p:nvSpPr>
        <p:spPr>
          <a:xfrm>
            <a:off x="7315200" y="44069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1200" b="1" smtClean="0">
                <a:solidFill>
                  <a:srgbClr val="ED293A"/>
                </a:solidFill>
                <a:latin typeface="Segoe UI" panose="020B0502040204020203" pitchFamily="34" charset="0"/>
              </a:rPr>
              <a:t>FALSOS AMIGOS (atenção!)</a:t>
            </a:r>
            <a:endParaRPr lang="pt-BR" sz="1200" b="1">
              <a:solidFill>
                <a:srgbClr val="ED293A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CaixaDeTexto 17"/>
          <p:cNvSpPr txBox="1"/>
          <p:nvPr/>
        </p:nvSpPr>
        <p:spPr>
          <a:xfrm>
            <a:off x="7315200" y="47371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pt-BR" sz="1150" smtClean="0">
                <a:solidFill>
                  <a:srgbClr val="1A1A2E"/>
                </a:solidFill>
                <a:latin typeface="Segoe UI" panose="020B0502040204020203" pitchFamily="34" charset="0"/>
              </a:rPr>
              <a:t>librairie = livraria, não "livro"</a:t>
            </a:r>
          </a:p>
          <a:p>
            <a:pPr>
              <a:lnSpc>
                <a:spcPct val="130000"/>
              </a:lnSpc>
            </a:pPr>
            <a:r>
              <a:rPr lang="pt-BR" sz="1150" smtClean="0">
                <a:solidFill>
                  <a:srgbClr val="1A1A2E"/>
                </a:solidFill>
                <a:latin typeface="Segoe UI" panose="020B0502040204020203" pitchFamily="34" charset="0"/>
              </a:rPr>
              <a:t>actuellement = atualmente</a:t>
            </a:r>
          </a:p>
          <a:p>
            <a:pPr>
              <a:lnSpc>
                <a:spcPct val="130000"/>
              </a:lnSpc>
            </a:pPr>
            <a:r>
              <a:rPr lang="pt-BR" sz="1150" smtClean="0">
                <a:solidFill>
                  <a:srgbClr val="1A1A2E"/>
                </a:solidFill>
                <a:latin typeface="Segoe UI" panose="020B0502040204020203" pitchFamily="34" charset="0"/>
              </a:rPr>
              <a:t>éventuellement = eventualmente</a:t>
            </a:r>
          </a:p>
          <a:p>
            <a:pPr>
              <a:lnSpc>
                <a:spcPct val="130000"/>
              </a:lnSpc>
            </a:pPr>
            <a:r>
              <a:rPr lang="pt-BR" sz="1150" smtClean="0">
                <a:solidFill>
                  <a:srgbClr val="1A1A2E"/>
                </a:solidFill>
                <a:latin typeface="Segoe UI" panose="020B0502040204020203" pitchFamily="34" charset="0"/>
              </a:rPr>
              <a:t>prendre = pegar, levar</a:t>
            </a:r>
          </a:p>
          <a:p>
            <a:pPr>
              <a:lnSpc>
                <a:spcPct val="130000"/>
              </a:lnSpc>
            </a:pPr>
            <a:r>
              <a:rPr lang="pt-BR" sz="1150" smtClean="0">
                <a:solidFill>
                  <a:srgbClr val="1A1A2E"/>
                </a:solidFill>
                <a:latin typeface="Segoe UI" panose="020B0502040204020203" pitchFamily="34" charset="0"/>
              </a:rPr>
              <a:t>chair = carne, não "cadeira"</a:t>
            </a:r>
            <a:endParaRPr lang="pt-BR" sz="11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030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0" y="0"/>
            <a:ext cx="12192000" cy="9906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0" y="990600"/>
            <a:ext cx="12192000" cy="635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698500" y="203200"/>
            <a:ext cx="1003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600" b="1" smtClean="0">
                <a:solidFill>
                  <a:srgbClr val="FFFFFF"/>
                </a:solidFill>
                <a:latin typeface="Georgia" panose="02040502050405020303" pitchFamily="18" charset="0"/>
              </a:rPr>
              <a:t>9. Diversidade cultural e conclusão</a:t>
            </a:r>
            <a:endParaRPr lang="pt-BR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Elipse 5"/>
          <p:cNvSpPr/>
          <p:nvPr/>
        </p:nvSpPr>
        <p:spPr>
          <a:xfrm>
            <a:off x="11226800" y="203200"/>
            <a:ext cx="584200" cy="584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pt-BR" sz="1600" b="1" smtClean="0">
                <a:solidFill>
                  <a:srgbClr val="002395"/>
                </a:solidFill>
                <a:latin typeface="Georgia" panose="02040502050405020303" pitchFamily="18" charset="0"/>
              </a:rPr>
              <a:t>10</a:t>
            </a:r>
            <a:endParaRPr lang="pt-BR" sz="1600" b="1">
              <a:solidFill>
                <a:srgbClr val="002395"/>
              </a:solidFill>
              <a:latin typeface="Georgia" panose="02040502050405020303" pitchFamily="18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698500" y="6350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França • História, cultura, culinária e curiosidades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11150600" y="6426200"/>
            <a:ext cx="190500" cy="76200"/>
          </a:xfrm>
          <a:prstGeom prst="rect">
            <a:avLst/>
          </a:prstGeom>
          <a:solidFill>
            <a:srgbClr val="00239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11379200" y="6426200"/>
            <a:ext cx="190500" cy="76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/>
          <p:cNvSpPr/>
          <p:nvPr/>
        </p:nvSpPr>
        <p:spPr>
          <a:xfrm>
            <a:off x="11607800" y="6426200"/>
            <a:ext cx="190500" cy="76200"/>
          </a:xfrm>
          <a:prstGeom prst="rect">
            <a:avLst/>
          </a:prstGeom>
          <a:solidFill>
            <a:srgbClr val="ED29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98500" y="1422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Regiões com identidad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e — Bretanha (celta), Alsácia (alemã), Provença (ocitana), País Basco e Córsega, com línguas e festas próprias.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Línguas regionai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s — occitano, bretão, basco, corso e alsaciano ainda são falados e ensinados nas escolas.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Imigraçã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o — portugueses, italianos, espanhóis, norte-africanos e africanos criaram bairros multiétnicos, como o 13º arrondissement de Paris.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Ultrama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r — Guadalupe, Martinica, Guiana Francesa, Reunião e Mayotte levam culturas caribenhas e africanas.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Convivênci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a — católicos, muçulmanos, judeus e budistas vivem juntos; a laicidade é princípio da República.</a:t>
            </a:r>
          </a:p>
          <a:p>
            <a:pPr marL="215900" indent="-215900">
              <a:lnSpc>
                <a:spcPct val="112000"/>
              </a:lnSpc>
              <a:spcAft>
                <a:spcPts val="1100"/>
              </a:spcAft>
            </a:pP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•  </a:t>
            </a:r>
            <a:r>
              <a:rPr lang="pt-BR" sz="1350" b="1" smtClean="0">
                <a:solidFill>
                  <a:srgbClr val="002395"/>
                </a:solidFill>
                <a:latin typeface="Segoe UI" panose="020B0502040204020203" pitchFamily="34" charset="0"/>
              </a:rPr>
              <a:t> Conclusã</a:t>
            </a:r>
            <a:r>
              <a:rPr lang="pt-BR" sz="1350" smtClean="0">
                <a:solidFill>
                  <a:srgbClr val="1A1A2E"/>
                </a:solidFill>
                <a:latin typeface="Segoe UI" panose="020B0502040204020203" pitchFamily="34" charset="0"/>
              </a:rPr>
              <a:t>o — tradição e modernidade no mesmo país: da baguete ao cinema, da Revolução à moda.</a:t>
            </a:r>
            <a:endParaRPr lang="pt-BR" sz="1350">
              <a:solidFill>
                <a:srgbClr val="1A1A2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CaixaDeTexto 11"/>
          <p:cNvSpPr txBox="1"/>
          <p:nvPr/>
        </p:nvSpPr>
        <p:spPr>
          <a:xfrm>
            <a:off x="698500" y="55626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1500" b="1" smtClean="0">
                <a:solidFill>
                  <a:srgbClr val="ED293A"/>
                </a:solidFill>
                <a:latin typeface="Georgia" panose="02040502050405020303" pitchFamily="18" charset="0"/>
              </a:rPr>
              <a:t>Merci beaucoup ! — Muito obrigado(a)!</a:t>
            </a:r>
            <a:endParaRPr lang="pt-BR" sz="1500" b="1">
              <a:solidFill>
                <a:srgbClr val="ED293A"/>
              </a:solidFill>
              <a:latin typeface="Georgia" panose="02040502050405020303" pitchFamily="18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7023100" y="1333500"/>
            <a:ext cx="4559300" cy="2463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BDFE8"/>
            </a:solidFill>
            <a:prstDash val="solid"/>
            <a:miter lim="800000"/>
          </a:ln>
          <a:effectLst>
            <a:outerShdw blurRad="114300" dist="50800" dir="5400000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422400"/>
            <a:ext cx="4381500" cy="2286000"/>
          </a:xfrm>
          <a:prstGeom prst="rect">
            <a:avLst/>
          </a:prstGeom>
        </p:spPr>
      </p:pic>
      <p:sp>
        <p:nvSpPr>
          <p:cNvPr id="15" name="CaixaDeTexto 14"/>
          <p:cNvSpPr txBox="1"/>
          <p:nvPr/>
        </p:nvSpPr>
        <p:spPr>
          <a:xfrm>
            <a:off x="7112000" y="3860800"/>
            <a:ext cx="4381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950" smtClean="0">
                <a:solidFill>
                  <a:srgbClr val="606474"/>
                </a:solidFill>
                <a:latin typeface="Segoe UI" panose="020B0502040204020203" pitchFamily="34" charset="0"/>
              </a:rPr>
              <a:t>Campo de lavanda na Provenca, sul da Franca</a:t>
            </a:r>
            <a:endParaRPr lang="pt-BR" sz="950">
              <a:solidFill>
                <a:srgbClr val="606474"/>
              </a:solidFill>
              <a:latin typeface="Segoe UI" panose="020B0502040204020203" pitchFamily="34" charset="0"/>
            </a:endParaRPr>
          </a:p>
        </p:txBody>
      </p:sp>
      <p:pic>
        <p:nvPicPr>
          <p:cNvPr id="16" name="Imagem 15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0" y="4254500"/>
            <a:ext cx="1841500" cy="1917700"/>
          </a:xfrm>
          <a:prstGeom prst="rect">
            <a:avLst/>
          </a:prstGeom>
        </p:spPr>
      </p:pic>
      <p:sp>
        <p:nvSpPr>
          <p:cNvPr id="17" name="Retângulo 16"/>
          <p:cNvSpPr/>
          <p:nvPr/>
        </p:nvSpPr>
        <p:spPr>
          <a:xfrm>
            <a:off x="9207500" y="4254500"/>
            <a:ext cx="2286000" cy="1917700"/>
          </a:xfrm>
          <a:prstGeom prst="rect">
            <a:avLst/>
          </a:prstGeom>
          <a:solidFill>
            <a:srgbClr val="E8EEFA"/>
          </a:solidFill>
          <a:ln w="12700" cap="flat" cmpd="sng" algn="ctr">
            <a:solidFill>
              <a:srgbClr val="00239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/>
          <p:cNvSpPr txBox="1"/>
          <p:nvPr/>
        </p:nvSpPr>
        <p:spPr>
          <a:xfrm>
            <a:off x="9398000" y="44069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1200" b="1" smtClean="0">
                <a:solidFill>
                  <a:srgbClr val="ED293A"/>
                </a:solidFill>
                <a:latin typeface="Segoe UI" panose="020B0502040204020203" pitchFamily="34" charset="0"/>
              </a:rPr>
              <a:t>18 REGIÕES</a:t>
            </a:r>
            <a:endParaRPr lang="pt-BR" sz="1200" b="1">
              <a:solidFill>
                <a:srgbClr val="ED293A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CaixaDeTexto 18"/>
          <p:cNvSpPr txBox="1"/>
          <p:nvPr/>
        </p:nvSpPr>
        <p:spPr>
          <a:xfrm>
            <a:off x="9398000" y="47244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pt-BR" sz="1100" smtClean="0">
                <a:solidFill>
                  <a:srgbClr val="001660"/>
                </a:solidFill>
                <a:latin typeface="Segoe UI" panose="020B0502040204020203" pitchFamily="34" charset="0"/>
              </a:rPr>
              <a:t>13 na metrópole (no desenho) e 5 no ultramar, espalhadas pelos oceanos Atlântico, Índico e Pacífico.</a:t>
            </a:r>
            <a:endParaRPr lang="pt-BR" sz="1100">
              <a:solidFill>
                <a:srgbClr val="00166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757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46911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1758</Words>
  <Application>Microsoft Office PowerPoint</Application>
  <PresentationFormat>Widescreen</PresentationFormat>
  <Paragraphs>126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Georgia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Fatec</dc:creator>
  <cp:lastModifiedBy>Fatec</cp:lastModifiedBy>
  <cp:revision>1</cp:revision>
  <dcterms:created xsi:type="dcterms:W3CDTF">2026-10-02T20:44:26Z</dcterms:created>
  <dcterms:modified xsi:type="dcterms:W3CDTF">2026-10-02T20:44:26Z</dcterms:modified>
</cp:coreProperties>
</file>