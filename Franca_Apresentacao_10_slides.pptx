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61239-3C8B-489D-90E9-E093746E79AC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46A9B-7171-4E9A-9823-26DDE7204C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5328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61239-3C8B-489D-90E9-E093746E79AC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46A9B-7171-4E9A-9823-26DDE7204C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3927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61239-3C8B-489D-90E9-E093746E79AC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46A9B-7171-4E9A-9823-26DDE7204C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0079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61239-3C8B-489D-90E9-E093746E79AC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46A9B-7171-4E9A-9823-26DDE7204C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6266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61239-3C8B-489D-90E9-E093746E79AC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46A9B-7171-4E9A-9823-26DDE7204C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3356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61239-3C8B-489D-90E9-E093746E79AC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46A9B-7171-4E9A-9823-26DDE7204C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6213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61239-3C8B-489D-90E9-E093746E79AC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46A9B-7171-4E9A-9823-26DDE7204C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7672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61239-3C8B-489D-90E9-E093746E79AC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46A9B-7171-4E9A-9823-26DDE7204C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2919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61239-3C8B-489D-90E9-E093746E79AC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46A9B-7171-4E9A-9823-26DDE7204C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5654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61239-3C8B-489D-90E9-E093746E79AC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46A9B-7171-4E9A-9823-26DDE7204C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9586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61239-3C8B-489D-90E9-E093746E79AC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46A9B-7171-4E9A-9823-26DDE7204C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73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361239-3C8B-489D-90E9-E093746E79AC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E46A9B-7171-4E9A-9823-26DDE7204C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3777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tângulo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1660">
              <a:alpha val="5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/>
          <p:cNvSpPr/>
          <p:nvPr/>
        </p:nvSpPr>
        <p:spPr>
          <a:xfrm>
            <a:off x="0" y="0"/>
            <a:ext cx="7429500" cy="6858000"/>
          </a:xfrm>
          <a:prstGeom prst="rect">
            <a:avLst/>
          </a:prstGeom>
          <a:solidFill>
            <a:srgbClr val="001660">
              <a:alpha val="66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/>
          <p:cNvSpPr txBox="1"/>
          <p:nvPr/>
        </p:nvSpPr>
        <p:spPr>
          <a:xfrm>
            <a:off x="762000" y="1371600"/>
            <a:ext cx="5969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200" b="1">
                <a:solidFill>
                  <a:srgbClr val="FFD65A"/>
                </a:solidFill>
                <a:latin typeface="Segoe UI" panose="020B0502040204020203" pitchFamily="34" charset="0"/>
              </a:rPr>
              <a:t>APRESENTAÇÃO • 10 SLIDES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698500" y="1752600"/>
            <a:ext cx="660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7600" b="1">
                <a:solidFill>
                  <a:srgbClr val="FFFFFF"/>
                </a:solidFill>
                <a:latin typeface="Georgia" panose="02040502050405020303" pitchFamily="18" charset="0"/>
              </a:rPr>
              <a:t>FRANÇA</a:t>
            </a:r>
          </a:p>
        </p:txBody>
      </p:sp>
      <p:sp>
        <p:nvSpPr>
          <p:cNvPr id="7" name="Retângulo 6"/>
          <p:cNvSpPr/>
          <p:nvPr/>
        </p:nvSpPr>
        <p:spPr>
          <a:xfrm>
            <a:off x="762000" y="3403600"/>
            <a:ext cx="939800" cy="88900"/>
          </a:xfrm>
          <a:prstGeom prst="rect">
            <a:avLst/>
          </a:prstGeom>
          <a:solidFill>
            <a:srgbClr val="00239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/>
          <p:cNvSpPr/>
          <p:nvPr/>
        </p:nvSpPr>
        <p:spPr>
          <a:xfrm>
            <a:off x="1765300" y="3403600"/>
            <a:ext cx="9398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/>
          <p:cNvSpPr/>
          <p:nvPr/>
        </p:nvSpPr>
        <p:spPr>
          <a:xfrm>
            <a:off x="2768600" y="3403600"/>
            <a:ext cx="939800" cy="88900"/>
          </a:xfrm>
          <a:prstGeom prst="rect">
            <a:avLst/>
          </a:prstGeom>
          <a:solidFill>
            <a:srgbClr val="ED29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/>
          <p:cNvSpPr txBox="1"/>
          <p:nvPr/>
        </p:nvSpPr>
        <p:spPr>
          <a:xfrm>
            <a:off x="762000" y="3810000"/>
            <a:ext cx="558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pt-BR" sz="1700">
                <a:solidFill>
                  <a:srgbClr val="FFFFFF"/>
                </a:solidFill>
                <a:latin typeface="Segoe UI" panose="020B0502040204020203" pitchFamily="34" charset="0"/>
              </a:rPr>
              <a:t>A história, os costumes, a culinária e as curiosidades do país da Torre Eiffel, do vinho e da baguete.</a:t>
            </a:r>
          </a:p>
        </p:txBody>
      </p:sp>
      <p:sp>
        <p:nvSpPr>
          <p:cNvPr id="11" name="CaixaDeTexto 10"/>
          <p:cNvSpPr txBox="1"/>
          <p:nvPr/>
        </p:nvSpPr>
        <p:spPr>
          <a:xfrm>
            <a:off x="762000" y="5334000"/>
            <a:ext cx="5969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150" b="1">
                <a:solidFill>
                  <a:srgbClr val="E2E8F5"/>
                </a:solidFill>
                <a:latin typeface="Segoe UI" panose="020B0502040204020203" pitchFamily="34" charset="0"/>
              </a:rPr>
              <a:t>Origens • Hábitos • Curiosidades • Culinária • Tradições • Idioma e traduções • Diversidade</a:t>
            </a:r>
          </a:p>
        </p:txBody>
      </p:sp>
      <p:pic>
        <p:nvPicPr>
          <p:cNvPr id="12" name="Imagem 11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00" y="508000"/>
            <a:ext cx="1778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91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/>
          <p:cNvSpPr/>
          <p:nvPr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00239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/>
          <p:cNvSpPr/>
          <p:nvPr/>
        </p:nvSpPr>
        <p:spPr>
          <a:xfrm>
            <a:off x="0" y="990600"/>
            <a:ext cx="12192000" cy="63500"/>
          </a:xfrm>
          <a:prstGeom prst="rect">
            <a:avLst/>
          </a:prstGeom>
          <a:solidFill>
            <a:srgbClr val="ED29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/>
          <p:cNvSpPr txBox="1"/>
          <p:nvPr/>
        </p:nvSpPr>
        <p:spPr>
          <a:xfrm>
            <a:off x="698500" y="203200"/>
            <a:ext cx="10033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2600" b="1">
                <a:solidFill>
                  <a:srgbClr val="FFFFFF"/>
                </a:solidFill>
                <a:latin typeface="Georgia" panose="02040502050405020303" pitchFamily="18" charset="0"/>
              </a:rPr>
              <a:t>1. Origens: das Galias à França</a:t>
            </a:r>
          </a:p>
        </p:txBody>
      </p:sp>
      <p:sp>
        <p:nvSpPr>
          <p:cNvPr id="6" name="Elipse 5"/>
          <p:cNvSpPr/>
          <p:nvPr/>
        </p:nvSpPr>
        <p:spPr>
          <a:xfrm>
            <a:off x="11226800" y="203200"/>
            <a:ext cx="584200" cy="5842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pt-BR" sz="1600" b="1">
                <a:solidFill>
                  <a:srgbClr val="002395"/>
                </a:solidFill>
                <a:latin typeface="Georgia" panose="02040502050405020303" pitchFamily="18" charset="0"/>
              </a:rPr>
              <a:t>02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698500" y="6350000"/>
            <a:ext cx="660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950">
                <a:solidFill>
                  <a:srgbClr val="606474"/>
                </a:solidFill>
                <a:latin typeface="Segoe UI" panose="020B0502040204020203" pitchFamily="34" charset="0"/>
              </a:rPr>
              <a:t>França • História, cultura, culinária e curiosidades</a:t>
            </a:r>
          </a:p>
        </p:txBody>
      </p:sp>
      <p:sp>
        <p:nvSpPr>
          <p:cNvPr id="8" name="Retângulo 7"/>
          <p:cNvSpPr/>
          <p:nvPr/>
        </p:nvSpPr>
        <p:spPr>
          <a:xfrm>
            <a:off x="11150600" y="6426200"/>
            <a:ext cx="190500" cy="76200"/>
          </a:xfrm>
          <a:prstGeom prst="rect">
            <a:avLst/>
          </a:prstGeom>
          <a:solidFill>
            <a:srgbClr val="00239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/>
          <p:cNvSpPr/>
          <p:nvPr/>
        </p:nvSpPr>
        <p:spPr>
          <a:xfrm>
            <a:off x="11379200" y="6426200"/>
            <a:ext cx="190500" cy="762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/>
          <p:cNvSpPr/>
          <p:nvPr/>
        </p:nvSpPr>
        <p:spPr>
          <a:xfrm>
            <a:off x="11607800" y="6426200"/>
            <a:ext cx="190500" cy="76200"/>
          </a:xfrm>
          <a:prstGeom prst="rect">
            <a:avLst/>
          </a:prstGeom>
          <a:solidFill>
            <a:srgbClr val="ED29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/>
          <p:cNvSpPr txBox="1"/>
          <p:nvPr/>
        </p:nvSpPr>
        <p:spPr>
          <a:xfrm>
            <a:off x="698500" y="1422400"/>
            <a:ext cx="594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15900" indent="-215900">
              <a:lnSpc>
                <a:spcPct val="112000"/>
              </a:lnSpc>
              <a:spcAft>
                <a:spcPts val="1100"/>
              </a:spcAft>
            </a:pPr>
            <a:r>
              <a:rPr lang="pt-BR" sz="1350">
                <a:solidFill>
                  <a:srgbClr val="1A1A2E"/>
                </a:solidFill>
                <a:latin typeface="Segoe UI" panose="020B0502040204020203" pitchFamily="34" charset="0"/>
              </a:rPr>
              <a:t>•  </a:t>
            </a:r>
            <a:r>
              <a:rPr lang="pt-BR" sz="1350" b="1">
                <a:solidFill>
                  <a:srgbClr val="002395"/>
                </a:solidFill>
                <a:latin typeface="Segoe UI" panose="020B0502040204020203" pitchFamily="34" charset="0"/>
              </a:rPr>
              <a:t> Povos celtas (gaulos</a:t>
            </a:r>
            <a:r>
              <a:rPr lang="pt-BR" sz="1350">
                <a:solidFill>
                  <a:srgbClr val="1A1A2E"/>
                </a:solidFill>
                <a:latin typeface="Segoe UI" panose="020B0502040204020203" pitchFamily="34" charset="0"/>
              </a:rPr>
              <a:t>) — habitavam a Gália, de onde vem o apelido "gauleses": druidas, oppida (cidades fortificadas) e ferro trabalhado.</a:t>
            </a:r>
          </a:p>
          <a:p>
            <a:pPr marL="215900" indent="-215900">
              <a:lnSpc>
                <a:spcPct val="112000"/>
              </a:lnSpc>
              <a:spcAft>
                <a:spcPts val="1100"/>
              </a:spcAft>
            </a:pPr>
            <a:r>
              <a:rPr lang="pt-BR" sz="1350">
                <a:solidFill>
                  <a:srgbClr val="1A1A2E"/>
                </a:solidFill>
                <a:latin typeface="Segoe UI" panose="020B0502040204020203" pitchFamily="34" charset="0"/>
              </a:rPr>
              <a:t>•  </a:t>
            </a:r>
            <a:r>
              <a:rPr lang="pt-BR" sz="1350" b="1">
                <a:solidFill>
                  <a:srgbClr val="002395"/>
                </a:solidFill>
                <a:latin typeface="Segoe UI" panose="020B0502040204020203" pitchFamily="34" charset="0"/>
              </a:rPr>
              <a:t> Conquista romana (52 a.C.</a:t>
            </a:r>
            <a:r>
              <a:rPr lang="pt-BR" sz="1350">
                <a:solidFill>
                  <a:srgbClr val="1A1A2E"/>
                </a:solidFill>
                <a:latin typeface="Segoe UI" panose="020B0502040204020203" pitchFamily="34" charset="0"/>
              </a:rPr>
              <a:t>) — Júlio César domina a Gália. Latim, estradas, cidades e direito romano passam a moldar a região.</a:t>
            </a:r>
          </a:p>
          <a:p>
            <a:pPr marL="215900" indent="-215900">
              <a:lnSpc>
                <a:spcPct val="112000"/>
              </a:lnSpc>
              <a:spcAft>
                <a:spcPts val="1100"/>
              </a:spcAft>
            </a:pPr>
            <a:r>
              <a:rPr lang="pt-BR" sz="1350">
                <a:solidFill>
                  <a:srgbClr val="1A1A2E"/>
                </a:solidFill>
                <a:latin typeface="Segoe UI" panose="020B0502040204020203" pitchFamily="34" charset="0"/>
              </a:rPr>
              <a:t>•  </a:t>
            </a:r>
            <a:r>
              <a:rPr lang="pt-BR" sz="1350" b="1">
                <a:solidFill>
                  <a:srgbClr val="002395"/>
                </a:solidFill>
                <a:latin typeface="Segoe UI" panose="020B0502040204020203" pitchFamily="34" charset="0"/>
              </a:rPr>
              <a:t> Reino dos francos (séc. V</a:t>
            </a:r>
            <a:r>
              <a:rPr lang="pt-BR" sz="1350">
                <a:solidFill>
                  <a:srgbClr val="1A1A2E"/>
                </a:solidFill>
                <a:latin typeface="Segoe UI" panose="020B0502040204020203" pitchFamily="34" charset="0"/>
              </a:rPr>
              <a:t>) — Clóvis une as tribos francas e se batiza em 496. Delas vêm o nome "France" e o galo como símbolo.</a:t>
            </a:r>
          </a:p>
          <a:p>
            <a:pPr marL="215900" indent="-215900">
              <a:lnSpc>
                <a:spcPct val="112000"/>
              </a:lnSpc>
              <a:spcAft>
                <a:spcPts val="1100"/>
              </a:spcAft>
            </a:pPr>
            <a:r>
              <a:rPr lang="pt-BR" sz="1350">
                <a:solidFill>
                  <a:srgbClr val="1A1A2E"/>
                </a:solidFill>
                <a:latin typeface="Segoe UI" panose="020B0502040204020203" pitchFamily="34" charset="0"/>
              </a:rPr>
              <a:t>•  </a:t>
            </a:r>
            <a:r>
              <a:rPr lang="pt-BR" sz="1350" b="1">
                <a:solidFill>
                  <a:srgbClr val="002395"/>
                </a:solidFill>
                <a:latin typeface="Segoe UI" panose="020B0502040204020203" pitchFamily="34" charset="0"/>
              </a:rPr>
              <a:t> Tratado de Verdun (843</a:t>
            </a:r>
            <a:r>
              <a:rPr lang="pt-BR" sz="1350">
                <a:solidFill>
                  <a:srgbClr val="1A1A2E"/>
                </a:solidFill>
                <a:latin typeface="Segoe UI" panose="020B0502040204020203" pitchFamily="34" charset="0"/>
              </a:rPr>
              <a:t>) — divide o império de Carlos Magno e cria a Francia ocidental, embrião da França atual.</a:t>
            </a:r>
          </a:p>
          <a:p>
            <a:pPr marL="215900" indent="-215900">
              <a:lnSpc>
                <a:spcPct val="112000"/>
              </a:lnSpc>
              <a:spcAft>
                <a:spcPts val="1100"/>
              </a:spcAft>
            </a:pPr>
            <a:r>
              <a:rPr lang="pt-BR" sz="1350">
                <a:solidFill>
                  <a:srgbClr val="1A1A2E"/>
                </a:solidFill>
                <a:latin typeface="Segoe UI" panose="020B0502040204020203" pitchFamily="34" charset="0"/>
              </a:rPr>
              <a:t>•  </a:t>
            </a:r>
            <a:r>
              <a:rPr lang="pt-BR" sz="1350" b="1">
                <a:solidFill>
                  <a:srgbClr val="002395"/>
                </a:solidFill>
                <a:latin typeface="Segoe UI" panose="020B0502040204020203" pitchFamily="34" charset="0"/>
              </a:rPr>
              <a:t> Normandos e viking</a:t>
            </a:r>
            <a:r>
              <a:rPr lang="pt-BR" sz="1350">
                <a:solidFill>
                  <a:srgbClr val="1A1A2E"/>
                </a:solidFill>
                <a:latin typeface="Segoe UI" panose="020B0502040204020203" pitchFamily="34" charset="0"/>
              </a:rPr>
              <a:t>s — as invasões nórdicas dos séculos IX e X dão origem à Normandia, a "terra dos homens do norte".</a:t>
            </a:r>
          </a:p>
          <a:p>
            <a:pPr marL="215900" indent="-215900">
              <a:lnSpc>
                <a:spcPct val="112000"/>
              </a:lnSpc>
              <a:spcAft>
                <a:spcPts val="1100"/>
              </a:spcAft>
            </a:pPr>
            <a:r>
              <a:rPr lang="pt-BR" sz="1350">
                <a:solidFill>
                  <a:srgbClr val="1A1A2E"/>
                </a:solidFill>
                <a:latin typeface="Segoe UI" panose="020B0502040204020203" pitchFamily="34" charset="0"/>
              </a:rPr>
              <a:t>•  </a:t>
            </a:r>
            <a:r>
              <a:rPr lang="pt-BR" sz="1350" b="1">
                <a:solidFill>
                  <a:srgbClr val="002395"/>
                </a:solidFill>
                <a:latin typeface="Segoe UI" panose="020B0502040204020203" pitchFamily="34" charset="0"/>
              </a:rPr>
              <a:t> Do latim ao francê</a:t>
            </a:r>
            <a:r>
              <a:rPr lang="pt-BR" sz="1350">
                <a:solidFill>
                  <a:srgbClr val="1A1A2E"/>
                </a:solidFill>
                <a:latin typeface="Segoe UI" panose="020B0502040204020203" pitchFamily="34" charset="0"/>
              </a:rPr>
              <a:t>s — o latim popular vira francês antigo; o Édit de Villers-Cotterêts (1539) impõe a língua francesa na corte.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7340600" y="1333500"/>
            <a:ext cx="4241800" cy="37973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BDFE8"/>
            </a:solidFill>
            <a:prstDash val="solid"/>
            <a:miter lim="800000"/>
          </a:ln>
          <a:effectLst>
            <a:outerShdw blurRad="114300" dist="50800" dir="5400000" rotWithShape="0">
              <a:srgbClr val="000000">
                <a:alpha val="1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3" name="Imagem 12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0" y="1422400"/>
            <a:ext cx="4064000" cy="3619500"/>
          </a:xfrm>
          <a:prstGeom prst="rect">
            <a:avLst/>
          </a:prstGeom>
        </p:spPr>
      </p:pic>
      <p:sp>
        <p:nvSpPr>
          <p:cNvPr id="14" name="CaixaDeTexto 13"/>
          <p:cNvSpPr txBox="1"/>
          <p:nvPr/>
        </p:nvSpPr>
        <p:spPr>
          <a:xfrm>
            <a:off x="7429500" y="5194300"/>
            <a:ext cx="406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950">
                <a:solidFill>
                  <a:srgbClr val="606474"/>
                </a:solidFill>
                <a:latin typeface="Segoe UI" panose="020B0502040204020203" pitchFamily="34" charset="0"/>
              </a:rPr>
              <a:t>Estatua de Vercingetorix em Alesia, o chefe gauleso que enfrentou Roma</a:t>
            </a:r>
          </a:p>
        </p:txBody>
      </p:sp>
      <p:sp>
        <p:nvSpPr>
          <p:cNvPr id="15" name="Retângulo 14"/>
          <p:cNvSpPr/>
          <p:nvPr/>
        </p:nvSpPr>
        <p:spPr>
          <a:xfrm>
            <a:off x="7429500" y="5651500"/>
            <a:ext cx="4064000" cy="609600"/>
          </a:xfrm>
          <a:prstGeom prst="rect">
            <a:avLst/>
          </a:prstGeom>
          <a:solidFill>
            <a:srgbClr val="E8EEFA"/>
          </a:solidFill>
          <a:ln w="12700" cap="flat" cmpd="sng" algn="ctr">
            <a:solidFill>
              <a:srgbClr val="002395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7581900" y="5753100"/>
            <a:ext cx="3759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10000"/>
              </a:lnSpc>
            </a:pPr>
            <a:r>
              <a:rPr lang="pt-BR" sz="1100">
                <a:solidFill>
                  <a:srgbClr val="001660"/>
                </a:solidFill>
                <a:latin typeface="Segoe UI" panose="020B0502040204020203" pitchFamily="34" charset="0"/>
              </a:rPr>
              <a:t>O nome "France" vem dos francos, povo germânico que fundou o reino medieval.</a:t>
            </a:r>
          </a:p>
        </p:txBody>
      </p:sp>
    </p:spTree>
    <p:extLst>
      <p:ext uri="{BB962C8B-B14F-4D97-AF65-F5344CB8AC3E}">
        <p14:creationId xmlns:p14="http://schemas.microsoft.com/office/powerpoint/2010/main" val="381168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/>
          <p:cNvSpPr/>
          <p:nvPr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00239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/>
          <p:cNvSpPr/>
          <p:nvPr/>
        </p:nvSpPr>
        <p:spPr>
          <a:xfrm>
            <a:off x="0" y="990600"/>
            <a:ext cx="12192000" cy="63500"/>
          </a:xfrm>
          <a:prstGeom prst="rect">
            <a:avLst/>
          </a:prstGeom>
          <a:solidFill>
            <a:srgbClr val="ED29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/>
          <p:cNvSpPr txBox="1"/>
          <p:nvPr/>
        </p:nvSpPr>
        <p:spPr>
          <a:xfrm>
            <a:off x="698500" y="203200"/>
            <a:ext cx="10033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2600" b="1">
                <a:solidFill>
                  <a:srgbClr val="FFFFFF"/>
                </a:solidFill>
                <a:latin typeface="Georgia" panose="02040502050405020303" pitchFamily="18" charset="0"/>
              </a:rPr>
              <a:t>2. Linha do tempo da história francesa</a:t>
            </a:r>
          </a:p>
        </p:txBody>
      </p:sp>
      <p:sp>
        <p:nvSpPr>
          <p:cNvPr id="6" name="Elipse 5"/>
          <p:cNvSpPr/>
          <p:nvPr/>
        </p:nvSpPr>
        <p:spPr>
          <a:xfrm>
            <a:off x="11226800" y="203200"/>
            <a:ext cx="584200" cy="5842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pt-BR" sz="1600" b="1">
                <a:solidFill>
                  <a:srgbClr val="002395"/>
                </a:solidFill>
                <a:latin typeface="Georgia" panose="02040502050405020303" pitchFamily="18" charset="0"/>
              </a:rPr>
              <a:t>03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698500" y="6350000"/>
            <a:ext cx="660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950">
                <a:solidFill>
                  <a:srgbClr val="606474"/>
                </a:solidFill>
                <a:latin typeface="Segoe UI" panose="020B0502040204020203" pitchFamily="34" charset="0"/>
              </a:rPr>
              <a:t>França • História, cultura, culinária e curiosidades</a:t>
            </a:r>
          </a:p>
        </p:txBody>
      </p:sp>
      <p:sp>
        <p:nvSpPr>
          <p:cNvPr id="8" name="Retângulo 7"/>
          <p:cNvSpPr/>
          <p:nvPr/>
        </p:nvSpPr>
        <p:spPr>
          <a:xfrm>
            <a:off x="11150600" y="6426200"/>
            <a:ext cx="190500" cy="76200"/>
          </a:xfrm>
          <a:prstGeom prst="rect">
            <a:avLst/>
          </a:prstGeom>
          <a:solidFill>
            <a:srgbClr val="00239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/>
          <p:cNvSpPr/>
          <p:nvPr/>
        </p:nvSpPr>
        <p:spPr>
          <a:xfrm>
            <a:off x="11379200" y="6426200"/>
            <a:ext cx="190500" cy="762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/>
          <p:cNvSpPr/>
          <p:nvPr/>
        </p:nvSpPr>
        <p:spPr>
          <a:xfrm>
            <a:off x="11607800" y="6426200"/>
            <a:ext cx="190500" cy="76200"/>
          </a:xfrm>
          <a:prstGeom prst="rect">
            <a:avLst/>
          </a:prstGeom>
          <a:solidFill>
            <a:srgbClr val="ED29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/>
          <p:cNvSpPr txBox="1"/>
          <p:nvPr/>
        </p:nvSpPr>
        <p:spPr>
          <a:xfrm>
            <a:off x="698500" y="1422400"/>
            <a:ext cx="609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15900" indent="-215900">
              <a:lnSpc>
                <a:spcPct val="112000"/>
              </a:lnSpc>
              <a:spcAft>
                <a:spcPts val="1000"/>
              </a:spcAft>
            </a:pPr>
            <a:r>
              <a:rPr lang="pt-BR" sz="1300">
                <a:solidFill>
                  <a:srgbClr val="1A1A2E"/>
                </a:solidFill>
                <a:latin typeface="Segoe UI" panose="020B0502040204020203" pitchFamily="34" charset="0"/>
              </a:rPr>
              <a:t>•  </a:t>
            </a:r>
            <a:r>
              <a:rPr lang="pt-BR" sz="1300" b="1">
                <a:solidFill>
                  <a:srgbClr val="002395"/>
                </a:solidFill>
                <a:latin typeface="Segoe UI" panose="020B0502040204020203" pitchFamily="34" charset="0"/>
              </a:rPr>
              <a:t> Séc. V ao </a:t>
            </a:r>
            <a:r>
              <a:rPr lang="pt-BR" sz="1300">
                <a:solidFill>
                  <a:srgbClr val="1A1A2E"/>
                </a:solidFill>
                <a:latin typeface="Segoe UI" panose="020B0502040204020203" pitchFamily="34" charset="0"/>
              </a:rPr>
              <a:t>X — dinastias merovíngia e carolíngia; Carlos Magno é coroado imperador no ano 800.</a:t>
            </a:r>
          </a:p>
          <a:p>
            <a:pPr marL="215900" indent="-215900">
              <a:lnSpc>
                <a:spcPct val="112000"/>
              </a:lnSpc>
              <a:spcAft>
                <a:spcPts val="1000"/>
              </a:spcAft>
            </a:pPr>
            <a:r>
              <a:rPr lang="pt-BR" sz="1300">
                <a:solidFill>
                  <a:srgbClr val="1A1A2E"/>
                </a:solidFill>
                <a:latin typeface="Segoe UI" panose="020B0502040204020203" pitchFamily="34" charset="0"/>
              </a:rPr>
              <a:t>•  </a:t>
            </a:r>
            <a:r>
              <a:rPr lang="pt-BR" sz="1300" b="1">
                <a:solidFill>
                  <a:srgbClr val="002395"/>
                </a:solidFill>
                <a:latin typeface="Segoe UI" panose="020B0502040204020203" pitchFamily="34" charset="0"/>
              </a:rPr>
              <a:t> Idade Médi</a:t>
            </a:r>
            <a:r>
              <a:rPr lang="pt-BR" sz="1300">
                <a:solidFill>
                  <a:srgbClr val="1A1A2E"/>
                </a:solidFill>
                <a:latin typeface="Segoe UI" panose="020B0502040204020203" pitchFamily="34" charset="0"/>
              </a:rPr>
              <a:t>a — catedrais, cruzadas e a Universidade de Paris (Sorbonne, 1200); Guilherme, o Conquistador, era duque da Normandia.</a:t>
            </a:r>
          </a:p>
          <a:p>
            <a:pPr marL="215900" indent="-215900">
              <a:lnSpc>
                <a:spcPct val="112000"/>
              </a:lnSpc>
              <a:spcAft>
                <a:spcPts val="1000"/>
              </a:spcAft>
            </a:pPr>
            <a:r>
              <a:rPr lang="pt-BR" sz="1300">
                <a:solidFill>
                  <a:srgbClr val="1A1A2E"/>
                </a:solidFill>
                <a:latin typeface="Segoe UI" panose="020B0502040204020203" pitchFamily="34" charset="0"/>
              </a:rPr>
              <a:t>•  </a:t>
            </a:r>
            <a:r>
              <a:rPr lang="pt-BR" sz="1300" b="1">
                <a:solidFill>
                  <a:srgbClr val="002395"/>
                </a:solidFill>
                <a:latin typeface="Segoe UI" panose="020B0502040204020203" pitchFamily="34" charset="0"/>
              </a:rPr>
              <a:t> 1337 – 145</a:t>
            </a:r>
            <a:r>
              <a:rPr lang="pt-BR" sz="1300">
                <a:solidFill>
                  <a:srgbClr val="1A1A2E"/>
                </a:solidFill>
                <a:latin typeface="Segoe UI" panose="020B0502040204020203" pitchFamily="34" charset="0"/>
              </a:rPr>
              <a:t>3 — Guerra dos Cem Anos com a Inglaterra; Joana d'Arc liberta Orléans em 1429.</a:t>
            </a:r>
          </a:p>
          <a:p>
            <a:pPr marL="215900" indent="-215900">
              <a:lnSpc>
                <a:spcPct val="112000"/>
              </a:lnSpc>
              <a:spcAft>
                <a:spcPts val="1000"/>
              </a:spcAft>
            </a:pPr>
            <a:r>
              <a:rPr lang="pt-BR" sz="1300">
                <a:solidFill>
                  <a:srgbClr val="1A1A2E"/>
                </a:solidFill>
                <a:latin typeface="Segoe UI" panose="020B0502040204020203" pitchFamily="34" charset="0"/>
              </a:rPr>
              <a:t>•  </a:t>
            </a:r>
            <a:r>
              <a:rPr lang="pt-BR" sz="1300" b="1">
                <a:solidFill>
                  <a:srgbClr val="002395"/>
                </a:solidFill>
                <a:latin typeface="Segoe UI" panose="020B0502040204020203" pitchFamily="34" charset="0"/>
              </a:rPr>
              <a:t> 178</a:t>
            </a:r>
            <a:r>
              <a:rPr lang="pt-BR" sz="1300">
                <a:solidFill>
                  <a:srgbClr val="1A1A2E"/>
                </a:solidFill>
                <a:latin typeface="Segoe UI" panose="020B0502040204020203" pitchFamily="34" charset="0"/>
              </a:rPr>
              <a:t>9 — Revolução Francesa: queda da Bastilha, Declaração dos Direitos do Homem e lema "Liberté, Égalité, Fraternité".</a:t>
            </a:r>
          </a:p>
          <a:p>
            <a:pPr marL="215900" indent="-215900">
              <a:lnSpc>
                <a:spcPct val="112000"/>
              </a:lnSpc>
              <a:spcAft>
                <a:spcPts val="1000"/>
              </a:spcAft>
            </a:pPr>
            <a:r>
              <a:rPr lang="pt-BR" sz="1300">
                <a:solidFill>
                  <a:srgbClr val="1A1A2E"/>
                </a:solidFill>
                <a:latin typeface="Segoe UI" panose="020B0502040204020203" pitchFamily="34" charset="0"/>
              </a:rPr>
              <a:t>•  </a:t>
            </a:r>
            <a:r>
              <a:rPr lang="pt-BR" sz="1300" b="1">
                <a:solidFill>
                  <a:srgbClr val="002395"/>
                </a:solidFill>
                <a:latin typeface="Segoe UI" panose="020B0502040204020203" pitchFamily="34" charset="0"/>
              </a:rPr>
              <a:t> 1804 – 181</a:t>
            </a:r>
            <a:r>
              <a:rPr lang="pt-BR" sz="1300">
                <a:solidFill>
                  <a:srgbClr val="1A1A2E"/>
                </a:solidFill>
                <a:latin typeface="Segoe UI" panose="020B0502040204020203" pitchFamily="34" charset="0"/>
              </a:rPr>
              <a:t>5 — Napoleão Bonaparte se coroa imperador e espalha o Código Civil pela Europa; é derrotado em Waterloo.</a:t>
            </a:r>
          </a:p>
          <a:p>
            <a:pPr marL="215900" indent="-215900">
              <a:lnSpc>
                <a:spcPct val="112000"/>
              </a:lnSpc>
              <a:spcAft>
                <a:spcPts val="1000"/>
              </a:spcAft>
            </a:pPr>
            <a:r>
              <a:rPr lang="pt-BR" sz="1300">
                <a:solidFill>
                  <a:srgbClr val="1A1A2E"/>
                </a:solidFill>
                <a:latin typeface="Segoe UI" panose="020B0502040204020203" pitchFamily="34" charset="0"/>
              </a:rPr>
              <a:t>•  </a:t>
            </a:r>
            <a:r>
              <a:rPr lang="pt-BR" sz="1300" b="1">
                <a:solidFill>
                  <a:srgbClr val="002395"/>
                </a:solidFill>
                <a:latin typeface="Segoe UI" panose="020B0502040204020203" pitchFamily="34" charset="0"/>
              </a:rPr>
              <a:t> 1870 – 194</a:t>
            </a:r>
            <a:r>
              <a:rPr lang="pt-BR" sz="1300">
                <a:solidFill>
                  <a:srgbClr val="1A1A2E"/>
                </a:solidFill>
                <a:latin typeface="Segoe UI" panose="020B0502040204020203" pitchFamily="34" charset="0"/>
              </a:rPr>
              <a:t>5 — Terceira República, industrialização, duas guerras mundiais e a Libertação de Paris em 1944.</a:t>
            </a:r>
          </a:p>
          <a:p>
            <a:pPr marL="215900" indent="-215900">
              <a:lnSpc>
                <a:spcPct val="112000"/>
              </a:lnSpc>
              <a:spcAft>
                <a:spcPts val="1000"/>
              </a:spcAft>
            </a:pPr>
            <a:r>
              <a:rPr lang="pt-BR" sz="1300">
                <a:solidFill>
                  <a:srgbClr val="1A1A2E"/>
                </a:solidFill>
                <a:latin typeface="Segoe UI" panose="020B0502040204020203" pitchFamily="34" charset="0"/>
              </a:rPr>
              <a:t>•  </a:t>
            </a:r>
            <a:r>
              <a:rPr lang="pt-BR" sz="1300" b="1">
                <a:solidFill>
                  <a:srgbClr val="002395"/>
                </a:solidFill>
                <a:latin typeface="Segoe UI" panose="020B0502040204020203" pitchFamily="34" charset="0"/>
              </a:rPr>
              <a:t> 1958 – hoj</a:t>
            </a:r>
            <a:r>
              <a:rPr lang="pt-BR" sz="1300">
                <a:solidFill>
                  <a:srgbClr val="1A1A2E"/>
                </a:solidFill>
                <a:latin typeface="Segoe UI" panose="020B0502040204020203" pitchFamily="34" charset="0"/>
              </a:rPr>
              <a:t>e — Charles de Gaulle instala a V República, forma de governo que vigora até hoje.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7086600" y="1333500"/>
            <a:ext cx="4495800" cy="37973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BDFE8"/>
            </a:solidFill>
            <a:prstDash val="solid"/>
            <a:miter lim="800000"/>
          </a:ln>
          <a:effectLst>
            <a:outerShdw blurRad="114300" dist="50800" dir="5400000" rotWithShape="0">
              <a:srgbClr val="000000">
                <a:alpha val="1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3" name="Imagem 12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5500" y="1422400"/>
            <a:ext cx="4318000" cy="3619500"/>
          </a:xfrm>
          <a:prstGeom prst="rect">
            <a:avLst/>
          </a:prstGeom>
        </p:spPr>
      </p:pic>
      <p:sp>
        <p:nvSpPr>
          <p:cNvPr id="14" name="CaixaDeTexto 13"/>
          <p:cNvSpPr txBox="1"/>
          <p:nvPr/>
        </p:nvSpPr>
        <p:spPr>
          <a:xfrm>
            <a:off x="7175500" y="51943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950">
                <a:solidFill>
                  <a:srgbClr val="606474"/>
                </a:solidFill>
                <a:latin typeface="Segoe UI" panose="020B0502040204020203" pitchFamily="34" charset="0"/>
              </a:rPr>
              <a:t>A tomada da Bastilha, 14 de julho de 1789, inicio da Revolucao Francesa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7175500" y="56769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pt-BR" sz="1100">
                <a:solidFill>
                  <a:srgbClr val="606474"/>
                </a:solidFill>
                <a:latin typeface="Segoe UI" panose="020B0502040204020203" pitchFamily="34" charset="0"/>
              </a:rPr>
              <a:t>"Liberté, Égalité, Fraternité" é o lema nacional desde a Revolução e aparece nos prédios públicos.</a:t>
            </a:r>
          </a:p>
        </p:txBody>
      </p:sp>
    </p:spTree>
    <p:extLst>
      <p:ext uri="{BB962C8B-B14F-4D97-AF65-F5344CB8AC3E}">
        <p14:creationId xmlns:p14="http://schemas.microsoft.com/office/powerpoint/2010/main" val="2546856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/>
          <p:cNvSpPr/>
          <p:nvPr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00239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/>
          <p:cNvSpPr/>
          <p:nvPr/>
        </p:nvSpPr>
        <p:spPr>
          <a:xfrm>
            <a:off x="0" y="990600"/>
            <a:ext cx="12192000" cy="63500"/>
          </a:xfrm>
          <a:prstGeom prst="rect">
            <a:avLst/>
          </a:prstGeom>
          <a:solidFill>
            <a:srgbClr val="ED29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/>
          <p:cNvSpPr txBox="1"/>
          <p:nvPr/>
        </p:nvSpPr>
        <p:spPr>
          <a:xfrm>
            <a:off x="698500" y="203200"/>
            <a:ext cx="10033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2600" b="1">
                <a:solidFill>
                  <a:srgbClr val="FFFFFF"/>
                </a:solidFill>
                <a:latin typeface="Georgia" panose="02040502050405020303" pitchFamily="18" charset="0"/>
              </a:rPr>
              <a:t>3. Geografia, símbolos e o "Hexágono"</a:t>
            </a:r>
          </a:p>
        </p:txBody>
      </p:sp>
      <p:sp>
        <p:nvSpPr>
          <p:cNvPr id="6" name="Elipse 5"/>
          <p:cNvSpPr/>
          <p:nvPr/>
        </p:nvSpPr>
        <p:spPr>
          <a:xfrm>
            <a:off x="11226800" y="203200"/>
            <a:ext cx="584200" cy="5842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pt-BR" sz="1600" b="1">
                <a:solidFill>
                  <a:srgbClr val="002395"/>
                </a:solidFill>
                <a:latin typeface="Georgia" panose="02040502050405020303" pitchFamily="18" charset="0"/>
              </a:rPr>
              <a:t>04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698500" y="6350000"/>
            <a:ext cx="660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950">
                <a:solidFill>
                  <a:srgbClr val="606474"/>
                </a:solidFill>
                <a:latin typeface="Segoe UI" panose="020B0502040204020203" pitchFamily="34" charset="0"/>
              </a:rPr>
              <a:t>França • História, cultura, culinária e curiosidades</a:t>
            </a:r>
          </a:p>
        </p:txBody>
      </p:sp>
      <p:sp>
        <p:nvSpPr>
          <p:cNvPr id="8" name="Retângulo 7"/>
          <p:cNvSpPr/>
          <p:nvPr/>
        </p:nvSpPr>
        <p:spPr>
          <a:xfrm>
            <a:off x="11150600" y="6426200"/>
            <a:ext cx="190500" cy="76200"/>
          </a:xfrm>
          <a:prstGeom prst="rect">
            <a:avLst/>
          </a:prstGeom>
          <a:solidFill>
            <a:srgbClr val="00239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/>
          <p:cNvSpPr/>
          <p:nvPr/>
        </p:nvSpPr>
        <p:spPr>
          <a:xfrm>
            <a:off x="11379200" y="6426200"/>
            <a:ext cx="190500" cy="762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/>
          <p:cNvSpPr/>
          <p:nvPr/>
        </p:nvSpPr>
        <p:spPr>
          <a:xfrm>
            <a:off x="11607800" y="6426200"/>
            <a:ext cx="190500" cy="76200"/>
          </a:xfrm>
          <a:prstGeom prst="rect">
            <a:avLst/>
          </a:prstGeom>
          <a:solidFill>
            <a:srgbClr val="ED29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/>
          <p:cNvSpPr txBox="1"/>
          <p:nvPr/>
        </p:nvSpPr>
        <p:spPr>
          <a:xfrm>
            <a:off x="698500" y="1422400"/>
            <a:ext cx="6032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15900" indent="-215900">
              <a:lnSpc>
                <a:spcPct val="112000"/>
              </a:lnSpc>
              <a:spcAft>
                <a:spcPts val="1100"/>
              </a:spcAft>
            </a:pPr>
            <a:r>
              <a:rPr lang="pt-BR" sz="1350">
                <a:solidFill>
                  <a:srgbClr val="1A1A2E"/>
                </a:solidFill>
                <a:latin typeface="Segoe UI" panose="020B0502040204020203" pitchFamily="34" charset="0"/>
              </a:rPr>
              <a:t>•  </a:t>
            </a:r>
            <a:r>
              <a:rPr lang="pt-BR" sz="1350" b="1">
                <a:solidFill>
                  <a:srgbClr val="002395"/>
                </a:solidFill>
                <a:latin typeface="Segoe UI" panose="020B0502040204020203" pitchFamily="34" charset="0"/>
              </a:rPr>
              <a:t> Tamanh</a:t>
            </a:r>
            <a:r>
              <a:rPr lang="pt-BR" sz="1350">
                <a:solidFill>
                  <a:srgbClr val="1A1A2E"/>
                </a:solidFill>
                <a:latin typeface="Segoe UI" panose="020B0502040204020203" pitchFamily="34" charset="0"/>
              </a:rPr>
              <a:t>o — 552 mil km² na Europa (oito vezes menor que o Brasil) e cerca de 68 milhões de habitantes.</a:t>
            </a:r>
          </a:p>
          <a:p>
            <a:pPr marL="215900" indent="-215900">
              <a:lnSpc>
                <a:spcPct val="112000"/>
              </a:lnSpc>
              <a:spcAft>
                <a:spcPts val="1100"/>
              </a:spcAft>
            </a:pPr>
            <a:r>
              <a:rPr lang="pt-BR" sz="1350">
                <a:solidFill>
                  <a:srgbClr val="1A1A2E"/>
                </a:solidFill>
                <a:latin typeface="Segoe UI" panose="020B0502040204020203" pitchFamily="34" charset="0"/>
              </a:rPr>
              <a:t>•  </a:t>
            </a:r>
            <a:r>
              <a:rPr lang="pt-BR" sz="1350" b="1">
                <a:solidFill>
                  <a:srgbClr val="002395"/>
                </a:solidFill>
                <a:latin typeface="Segoe UI" panose="020B0502040204020203" pitchFamily="34" charset="0"/>
              </a:rPr>
              <a:t> Vizinho</a:t>
            </a:r>
            <a:r>
              <a:rPr lang="pt-BR" sz="1350">
                <a:solidFill>
                  <a:srgbClr val="1A1A2E"/>
                </a:solidFill>
                <a:latin typeface="Segoe UI" panose="020B0502040204020203" pitchFamily="34" charset="0"/>
              </a:rPr>
              <a:t>s — Bélgica, Luxemburgo, Alemanha, Suíça, Itália e Espanha, além dos micro-estados Mônaco e Andorra.</a:t>
            </a:r>
          </a:p>
          <a:p>
            <a:pPr marL="215900" indent="-215900">
              <a:lnSpc>
                <a:spcPct val="112000"/>
              </a:lnSpc>
              <a:spcAft>
                <a:spcPts val="1100"/>
              </a:spcAft>
            </a:pPr>
            <a:r>
              <a:rPr lang="pt-BR" sz="1350">
                <a:solidFill>
                  <a:srgbClr val="1A1A2E"/>
                </a:solidFill>
                <a:latin typeface="Segoe UI" panose="020B0502040204020203" pitchFamily="34" charset="0"/>
              </a:rPr>
              <a:t>•  </a:t>
            </a:r>
            <a:r>
              <a:rPr lang="pt-BR" sz="1350" b="1">
                <a:solidFill>
                  <a:srgbClr val="002395"/>
                </a:solidFill>
                <a:latin typeface="Segoe UI" panose="020B0502040204020203" pitchFamily="34" charset="0"/>
              </a:rPr>
              <a:t> Água</a:t>
            </a:r>
            <a:r>
              <a:rPr lang="pt-BR" sz="1350">
                <a:solidFill>
                  <a:srgbClr val="1A1A2E"/>
                </a:solidFill>
                <a:latin typeface="Segoe UI" panose="020B0502040204020203" pitchFamily="34" charset="0"/>
              </a:rPr>
              <a:t>s — Canal da Mancha, Oceano Atlântico e Mar Mediterrâneo; rios Sena, Loire, Ródano e Reno.</a:t>
            </a:r>
          </a:p>
          <a:p>
            <a:pPr marL="215900" indent="-215900">
              <a:lnSpc>
                <a:spcPct val="112000"/>
              </a:lnSpc>
              <a:spcAft>
                <a:spcPts val="1100"/>
              </a:spcAft>
            </a:pPr>
            <a:r>
              <a:rPr lang="pt-BR" sz="1350">
                <a:solidFill>
                  <a:srgbClr val="1A1A2E"/>
                </a:solidFill>
                <a:latin typeface="Segoe UI" panose="020B0502040204020203" pitchFamily="34" charset="0"/>
              </a:rPr>
              <a:t>•  </a:t>
            </a:r>
            <a:r>
              <a:rPr lang="pt-BR" sz="1350" b="1">
                <a:solidFill>
                  <a:srgbClr val="002395"/>
                </a:solidFill>
                <a:latin typeface="Segoe UI" panose="020B0502040204020203" pitchFamily="34" charset="0"/>
              </a:rPr>
              <a:t> 18 regiõe</a:t>
            </a:r>
            <a:r>
              <a:rPr lang="pt-BR" sz="1350">
                <a:solidFill>
                  <a:srgbClr val="1A1A2E"/>
                </a:solidFill>
                <a:latin typeface="Segoe UI" panose="020B0502040204020203" pitchFamily="34" charset="0"/>
              </a:rPr>
              <a:t>s — 13 na metrópole e 5 no ultramar: Guadalupe, Martinica, Guiana Francesa, Reunião e Mayotte.</a:t>
            </a:r>
          </a:p>
          <a:p>
            <a:pPr marL="215900" indent="-215900">
              <a:lnSpc>
                <a:spcPct val="112000"/>
              </a:lnSpc>
              <a:spcAft>
                <a:spcPts val="1100"/>
              </a:spcAft>
            </a:pPr>
            <a:r>
              <a:rPr lang="pt-BR" sz="1350">
                <a:solidFill>
                  <a:srgbClr val="1A1A2E"/>
                </a:solidFill>
                <a:latin typeface="Segoe UI" panose="020B0502040204020203" pitchFamily="34" charset="0"/>
              </a:rPr>
              <a:t>•  </a:t>
            </a:r>
            <a:r>
              <a:rPr lang="pt-BR" sz="1350" b="1">
                <a:solidFill>
                  <a:srgbClr val="002395"/>
                </a:solidFill>
                <a:latin typeface="Segoe UI" panose="020B0502040204020203" pitchFamily="34" charset="0"/>
              </a:rPr>
              <a:t> Paisagen</a:t>
            </a:r>
            <a:r>
              <a:rPr lang="pt-BR" sz="1350">
                <a:solidFill>
                  <a:srgbClr val="1A1A2E"/>
                </a:solidFill>
                <a:latin typeface="Segoe UI" panose="020B0502040204020203" pitchFamily="34" charset="0"/>
              </a:rPr>
              <a:t>s — Alpes (Mont Blanc, 4.808 m), planícies do norte, vinhas da Borgonha, lavandas da Provença e a Córsega.</a:t>
            </a:r>
          </a:p>
          <a:p>
            <a:pPr marL="215900" indent="-215900">
              <a:lnSpc>
                <a:spcPct val="112000"/>
              </a:lnSpc>
              <a:spcAft>
                <a:spcPts val="1100"/>
              </a:spcAft>
            </a:pPr>
            <a:r>
              <a:rPr lang="pt-BR" sz="1350">
                <a:solidFill>
                  <a:srgbClr val="1A1A2E"/>
                </a:solidFill>
                <a:latin typeface="Segoe UI" panose="020B0502040204020203" pitchFamily="34" charset="0"/>
              </a:rPr>
              <a:t>•  </a:t>
            </a:r>
            <a:r>
              <a:rPr lang="pt-BR" sz="1350" b="1">
                <a:solidFill>
                  <a:srgbClr val="002395"/>
                </a:solidFill>
                <a:latin typeface="Segoe UI" panose="020B0502040204020203" pitchFamily="34" charset="0"/>
              </a:rPr>
              <a:t> Símbolo</a:t>
            </a:r>
            <a:r>
              <a:rPr lang="pt-BR" sz="1350">
                <a:solidFill>
                  <a:srgbClr val="1A1A2E"/>
                </a:solidFill>
                <a:latin typeface="Segoe UI" panose="020B0502040204020203" pitchFamily="34" charset="0"/>
              </a:rPr>
              <a:t>s — bandeira tricolor (1794), hino La Marseillaise, galo gaulês e Marianne, a figura da República.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7023100" y="1333500"/>
            <a:ext cx="4559300" cy="38608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BDFE8"/>
            </a:solidFill>
            <a:prstDash val="solid"/>
            <a:miter lim="800000"/>
          </a:ln>
          <a:effectLst>
            <a:outerShdw blurRad="114300" dist="50800" dir="5400000" rotWithShape="0">
              <a:srgbClr val="000000">
                <a:alpha val="1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3" name="Imagem 12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0" y="1422400"/>
            <a:ext cx="4381500" cy="3683000"/>
          </a:xfrm>
          <a:prstGeom prst="rect">
            <a:avLst/>
          </a:prstGeom>
        </p:spPr>
      </p:pic>
      <p:pic>
        <p:nvPicPr>
          <p:cNvPr id="14" name="Imagem 13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0" y="4318000"/>
            <a:ext cx="1244600" cy="889000"/>
          </a:xfrm>
          <a:prstGeom prst="rect">
            <a:avLst/>
          </a:prstGeom>
        </p:spPr>
      </p:pic>
      <p:sp>
        <p:nvSpPr>
          <p:cNvPr id="15" name="CaixaDeTexto 14"/>
          <p:cNvSpPr txBox="1"/>
          <p:nvPr/>
        </p:nvSpPr>
        <p:spPr>
          <a:xfrm>
            <a:off x="7112000" y="5359400"/>
            <a:ext cx="43815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pt-BR" sz="1150">
                <a:solidFill>
                  <a:srgbClr val="606474"/>
                </a:solidFill>
                <a:latin typeface="Segoe UI" panose="020B0502040204020203" pitchFamily="34" charset="0"/>
              </a:rPr>
              <a:t>Chamado de "Hexágono" por ter seis lados, a França tem 12 fusos horários quando se somam os territórios ultramarinos.</a:t>
            </a:r>
          </a:p>
        </p:txBody>
      </p:sp>
    </p:spTree>
    <p:extLst>
      <p:ext uri="{BB962C8B-B14F-4D97-AF65-F5344CB8AC3E}">
        <p14:creationId xmlns:p14="http://schemas.microsoft.com/office/powerpoint/2010/main" val="3833720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/>
          <p:cNvSpPr/>
          <p:nvPr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00239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/>
          <p:cNvSpPr/>
          <p:nvPr/>
        </p:nvSpPr>
        <p:spPr>
          <a:xfrm>
            <a:off x="0" y="990600"/>
            <a:ext cx="12192000" cy="63500"/>
          </a:xfrm>
          <a:prstGeom prst="rect">
            <a:avLst/>
          </a:prstGeom>
          <a:solidFill>
            <a:srgbClr val="ED29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/>
          <p:cNvSpPr txBox="1"/>
          <p:nvPr/>
        </p:nvSpPr>
        <p:spPr>
          <a:xfrm>
            <a:off x="698500" y="203200"/>
            <a:ext cx="10033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2600" b="1">
                <a:solidFill>
                  <a:srgbClr val="FFFFFF"/>
                </a:solidFill>
                <a:latin typeface="Georgia" panose="02040502050405020303" pitchFamily="18" charset="0"/>
              </a:rPr>
              <a:t>4. Hábitos e costumes dos franceses</a:t>
            </a:r>
          </a:p>
        </p:txBody>
      </p:sp>
      <p:sp>
        <p:nvSpPr>
          <p:cNvPr id="6" name="Elipse 5"/>
          <p:cNvSpPr/>
          <p:nvPr/>
        </p:nvSpPr>
        <p:spPr>
          <a:xfrm>
            <a:off x="11226800" y="203200"/>
            <a:ext cx="584200" cy="5842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pt-BR" sz="1600" b="1">
                <a:solidFill>
                  <a:srgbClr val="002395"/>
                </a:solidFill>
                <a:latin typeface="Georgia" panose="02040502050405020303" pitchFamily="18" charset="0"/>
              </a:rPr>
              <a:t>05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698500" y="6350000"/>
            <a:ext cx="660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950">
                <a:solidFill>
                  <a:srgbClr val="606474"/>
                </a:solidFill>
                <a:latin typeface="Segoe UI" panose="020B0502040204020203" pitchFamily="34" charset="0"/>
              </a:rPr>
              <a:t>França • História, cultura, culinária e curiosidades</a:t>
            </a:r>
          </a:p>
        </p:txBody>
      </p:sp>
      <p:sp>
        <p:nvSpPr>
          <p:cNvPr id="8" name="Retângulo 7"/>
          <p:cNvSpPr/>
          <p:nvPr/>
        </p:nvSpPr>
        <p:spPr>
          <a:xfrm>
            <a:off x="11150600" y="6426200"/>
            <a:ext cx="190500" cy="76200"/>
          </a:xfrm>
          <a:prstGeom prst="rect">
            <a:avLst/>
          </a:prstGeom>
          <a:solidFill>
            <a:srgbClr val="00239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/>
          <p:cNvSpPr/>
          <p:nvPr/>
        </p:nvSpPr>
        <p:spPr>
          <a:xfrm>
            <a:off x="11379200" y="6426200"/>
            <a:ext cx="190500" cy="762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/>
          <p:cNvSpPr/>
          <p:nvPr/>
        </p:nvSpPr>
        <p:spPr>
          <a:xfrm>
            <a:off x="11607800" y="6426200"/>
            <a:ext cx="190500" cy="76200"/>
          </a:xfrm>
          <a:prstGeom prst="rect">
            <a:avLst/>
          </a:prstGeom>
          <a:solidFill>
            <a:srgbClr val="ED29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/>
          <p:cNvSpPr txBox="1"/>
          <p:nvPr/>
        </p:nvSpPr>
        <p:spPr>
          <a:xfrm>
            <a:off x="698500" y="1422400"/>
            <a:ext cx="596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15900" indent="-215900">
              <a:lnSpc>
                <a:spcPct val="112000"/>
              </a:lnSpc>
              <a:spcAft>
                <a:spcPts val="1100"/>
              </a:spcAft>
            </a:pPr>
            <a:r>
              <a:rPr lang="pt-BR" sz="1350">
                <a:solidFill>
                  <a:srgbClr val="1A1A2E"/>
                </a:solidFill>
                <a:latin typeface="Segoe UI" panose="020B0502040204020203" pitchFamily="34" charset="0"/>
              </a:rPr>
              <a:t>•  </a:t>
            </a:r>
            <a:r>
              <a:rPr lang="pt-BR" sz="1350" b="1">
                <a:solidFill>
                  <a:srgbClr val="002395"/>
                </a:solidFill>
                <a:latin typeface="Segoe UI" panose="020B0502040204020203" pitchFamily="34" charset="0"/>
              </a:rPr>
              <a:t> Petit déjeune</a:t>
            </a:r>
            <a:r>
              <a:rPr lang="pt-BR" sz="1350">
                <a:solidFill>
                  <a:srgbClr val="1A1A2E"/>
                </a:solidFill>
                <a:latin typeface="Segoe UI" panose="020B0502040204020203" pitchFamily="34" charset="0"/>
              </a:rPr>
              <a:t>r — café da manhã leve: baguete ou croissant com manteiga e geleia, mais café com leite.</a:t>
            </a:r>
          </a:p>
          <a:p>
            <a:pPr marL="215900" indent="-215900">
              <a:lnSpc>
                <a:spcPct val="112000"/>
              </a:lnSpc>
              <a:spcAft>
                <a:spcPts val="1100"/>
              </a:spcAft>
            </a:pPr>
            <a:r>
              <a:rPr lang="pt-BR" sz="1350">
                <a:solidFill>
                  <a:srgbClr val="1A1A2E"/>
                </a:solidFill>
                <a:latin typeface="Segoe UI" panose="020B0502040204020203" pitchFamily="34" charset="0"/>
              </a:rPr>
              <a:t>•  </a:t>
            </a:r>
            <a:r>
              <a:rPr lang="pt-BR" sz="1350" b="1">
                <a:solidFill>
                  <a:srgbClr val="002395"/>
                </a:solidFill>
                <a:latin typeface="Segoe UI" panose="020B0502040204020203" pitchFamily="34" charset="0"/>
              </a:rPr>
              <a:t> Horários das refeiçõe</a:t>
            </a:r>
            <a:r>
              <a:rPr lang="pt-BR" sz="1350">
                <a:solidFill>
                  <a:srgbClr val="1A1A2E"/>
                </a:solidFill>
                <a:latin typeface="Segoe UI" panose="020B0502040204020203" pitchFamily="34" charset="0"/>
              </a:rPr>
              <a:t>s — almoço das 12h às 14h e jantar a partir das 19h30; a refeição é hora de conversa, não de pressa.</a:t>
            </a:r>
          </a:p>
          <a:p>
            <a:pPr marL="215900" indent="-215900">
              <a:lnSpc>
                <a:spcPct val="112000"/>
              </a:lnSpc>
              <a:spcAft>
                <a:spcPts val="1100"/>
              </a:spcAft>
            </a:pPr>
            <a:r>
              <a:rPr lang="pt-BR" sz="1350">
                <a:solidFill>
                  <a:srgbClr val="1A1A2E"/>
                </a:solidFill>
                <a:latin typeface="Segoe UI" panose="020B0502040204020203" pitchFamily="34" charset="0"/>
              </a:rPr>
              <a:t>•  </a:t>
            </a:r>
            <a:r>
              <a:rPr lang="pt-BR" sz="1350" b="1">
                <a:solidFill>
                  <a:srgbClr val="002395"/>
                </a:solidFill>
                <a:latin typeface="Segoe UI" panose="020B0502040204020203" pitchFamily="34" charset="0"/>
              </a:rPr>
              <a:t> Etiquet</a:t>
            </a:r>
            <a:r>
              <a:rPr lang="pt-BR" sz="1350">
                <a:solidFill>
                  <a:srgbClr val="1A1A2E"/>
                </a:solidFill>
                <a:latin typeface="Segoe UI" panose="020B0502040204020203" pitchFamily="34" charset="0"/>
              </a:rPr>
              <a:t>a — cumprimentar com "bonjour" ao entrar em lojas e restaurantes; entre conhecidos, "la bise" (beijo na bochecha).</a:t>
            </a:r>
          </a:p>
          <a:p>
            <a:pPr marL="215900" indent="-215900">
              <a:lnSpc>
                <a:spcPct val="112000"/>
              </a:lnSpc>
              <a:spcAft>
                <a:spcPts val="1100"/>
              </a:spcAft>
            </a:pPr>
            <a:r>
              <a:rPr lang="pt-BR" sz="1350">
                <a:solidFill>
                  <a:srgbClr val="1A1A2E"/>
                </a:solidFill>
                <a:latin typeface="Segoe UI" panose="020B0502040204020203" pitchFamily="34" charset="0"/>
              </a:rPr>
              <a:t>•  </a:t>
            </a:r>
            <a:r>
              <a:rPr lang="pt-BR" sz="1350" b="1">
                <a:solidFill>
                  <a:srgbClr val="002395"/>
                </a:solidFill>
                <a:latin typeface="Segoe UI" panose="020B0502040204020203" pitchFamily="34" charset="0"/>
              </a:rPr>
              <a:t> Trabalho e laze</a:t>
            </a:r>
            <a:r>
              <a:rPr lang="pt-BR" sz="1350">
                <a:solidFill>
                  <a:srgbClr val="1A1A2E"/>
                </a:solidFill>
                <a:latin typeface="Segoe UI" panose="020B0502040204020203" pitchFamily="34" charset="0"/>
              </a:rPr>
              <a:t>r — semana de 35 horas, 5 semanas de férias e muitas greves: protestar é uma tradição política.</a:t>
            </a:r>
          </a:p>
          <a:p>
            <a:pPr marL="215900" indent="-215900">
              <a:lnSpc>
                <a:spcPct val="112000"/>
              </a:lnSpc>
              <a:spcAft>
                <a:spcPts val="1100"/>
              </a:spcAft>
            </a:pPr>
            <a:r>
              <a:rPr lang="pt-BR" sz="1350">
                <a:solidFill>
                  <a:srgbClr val="1A1A2E"/>
                </a:solidFill>
                <a:latin typeface="Segoe UI" panose="020B0502040204020203" pitchFamily="34" charset="0"/>
              </a:rPr>
              <a:t>•  </a:t>
            </a:r>
            <a:r>
              <a:rPr lang="pt-BR" sz="1350" b="1">
                <a:solidFill>
                  <a:srgbClr val="002395"/>
                </a:solidFill>
                <a:latin typeface="Segoe UI" panose="020B0502040204020203" pitchFamily="34" charset="0"/>
              </a:rPr>
              <a:t> Fim de seman</a:t>
            </a:r>
            <a:r>
              <a:rPr lang="pt-BR" sz="1350">
                <a:solidFill>
                  <a:srgbClr val="1A1A2E"/>
                </a:solidFill>
                <a:latin typeface="Segoe UI" panose="020B0502040204020203" pitchFamily="34" charset="0"/>
              </a:rPr>
              <a:t>a — sábado é dia de mercado, queijaria e feira; domingo as lojas ficam fechadas e a família se reúne.</a:t>
            </a:r>
          </a:p>
          <a:p>
            <a:pPr marL="215900" indent="-215900">
              <a:lnSpc>
                <a:spcPct val="112000"/>
              </a:lnSpc>
              <a:spcAft>
                <a:spcPts val="1100"/>
              </a:spcAft>
            </a:pPr>
            <a:r>
              <a:rPr lang="pt-BR" sz="1350">
                <a:solidFill>
                  <a:srgbClr val="1A1A2E"/>
                </a:solidFill>
                <a:latin typeface="Segoe UI" panose="020B0502040204020203" pitchFamily="34" charset="0"/>
              </a:rPr>
              <a:t>•  </a:t>
            </a:r>
            <a:r>
              <a:rPr lang="pt-BR" sz="1350" b="1">
                <a:solidFill>
                  <a:srgbClr val="002395"/>
                </a:solidFill>
                <a:latin typeface="Segoe UI" panose="020B0502040204020203" pitchFamily="34" charset="0"/>
              </a:rPr>
              <a:t> Art de vivr</a:t>
            </a:r>
            <a:r>
              <a:rPr lang="pt-BR" sz="1350">
                <a:solidFill>
                  <a:srgbClr val="1A1A2E"/>
                </a:solidFill>
                <a:latin typeface="Segoe UI" panose="020B0502040204020203" pitchFamily="34" charset="0"/>
              </a:rPr>
              <a:t>e — o Estado protege língua, culinária e patrimônio: vinhos, queijos e festivais fazem parte do dia a dia.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7023100" y="1333500"/>
            <a:ext cx="4559300" cy="33528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BDFE8"/>
            </a:solidFill>
            <a:prstDash val="solid"/>
            <a:miter lim="800000"/>
          </a:ln>
          <a:effectLst>
            <a:outerShdw blurRad="114300" dist="50800" dir="5400000" rotWithShape="0">
              <a:srgbClr val="000000">
                <a:alpha val="1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3" name="Imagem 12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0" y="1422400"/>
            <a:ext cx="4381500" cy="3175000"/>
          </a:xfrm>
          <a:prstGeom prst="rect">
            <a:avLst/>
          </a:prstGeom>
        </p:spPr>
      </p:pic>
      <p:sp>
        <p:nvSpPr>
          <p:cNvPr id="14" name="CaixaDeTexto 13"/>
          <p:cNvSpPr txBox="1"/>
          <p:nvPr/>
        </p:nvSpPr>
        <p:spPr>
          <a:xfrm>
            <a:off x="7112000" y="4749800"/>
            <a:ext cx="43815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950">
                <a:solidFill>
                  <a:srgbClr val="606474"/>
                </a:solidFill>
                <a:latin typeface="Segoe UI" panose="020B0502040204020203" pitchFamily="34" charset="0"/>
              </a:rPr>
              <a:t>Cafe de Flore, em Paris: sentar na mesa da calçada e observar a rua</a:t>
            </a:r>
          </a:p>
        </p:txBody>
      </p:sp>
      <p:pic>
        <p:nvPicPr>
          <p:cNvPr id="15" name="Imagem 14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5500" y="5232400"/>
            <a:ext cx="1104900" cy="762000"/>
          </a:xfrm>
          <a:prstGeom prst="rect">
            <a:avLst/>
          </a:prstGeom>
        </p:spPr>
      </p:pic>
      <p:pic>
        <p:nvPicPr>
          <p:cNvPr id="16" name="Imagem 15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5500" y="5143500"/>
            <a:ext cx="1333500" cy="1028700"/>
          </a:xfrm>
          <a:prstGeom prst="rect">
            <a:avLst/>
          </a:prstGeom>
        </p:spPr>
      </p:pic>
      <p:pic>
        <p:nvPicPr>
          <p:cNvPr id="17" name="Imagem 16"/>
          <p:cNvPicPr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9500" y="5461000"/>
            <a:ext cx="13970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947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/>
          <p:cNvSpPr/>
          <p:nvPr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00239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/>
          <p:cNvSpPr/>
          <p:nvPr/>
        </p:nvSpPr>
        <p:spPr>
          <a:xfrm>
            <a:off x="0" y="990600"/>
            <a:ext cx="12192000" cy="63500"/>
          </a:xfrm>
          <a:prstGeom prst="rect">
            <a:avLst/>
          </a:prstGeom>
          <a:solidFill>
            <a:srgbClr val="ED29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/>
          <p:cNvSpPr txBox="1"/>
          <p:nvPr/>
        </p:nvSpPr>
        <p:spPr>
          <a:xfrm>
            <a:off x="698500" y="203200"/>
            <a:ext cx="10033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2600" b="1">
                <a:solidFill>
                  <a:srgbClr val="FFFFFF"/>
                </a:solidFill>
                <a:latin typeface="Georgia" panose="02040502050405020303" pitchFamily="18" charset="0"/>
              </a:rPr>
              <a:t>5. Curiosidades sobre a França</a:t>
            </a:r>
          </a:p>
        </p:txBody>
      </p:sp>
      <p:sp>
        <p:nvSpPr>
          <p:cNvPr id="6" name="Elipse 5"/>
          <p:cNvSpPr/>
          <p:nvPr/>
        </p:nvSpPr>
        <p:spPr>
          <a:xfrm>
            <a:off x="11226800" y="203200"/>
            <a:ext cx="584200" cy="5842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pt-BR" sz="1600" b="1">
                <a:solidFill>
                  <a:srgbClr val="002395"/>
                </a:solidFill>
                <a:latin typeface="Georgia" panose="02040502050405020303" pitchFamily="18" charset="0"/>
              </a:rPr>
              <a:t>06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698500" y="6350000"/>
            <a:ext cx="660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950">
                <a:solidFill>
                  <a:srgbClr val="606474"/>
                </a:solidFill>
                <a:latin typeface="Segoe UI" panose="020B0502040204020203" pitchFamily="34" charset="0"/>
              </a:rPr>
              <a:t>França • História, cultura, culinária e curiosidades</a:t>
            </a:r>
          </a:p>
        </p:txBody>
      </p:sp>
      <p:sp>
        <p:nvSpPr>
          <p:cNvPr id="8" name="Retângulo 7"/>
          <p:cNvSpPr/>
          <p:nvPr/>
        </p:nvSpPr>
        <p:spPr>
          <a:xfrm>
            <a:off x="11150600" y="6426200"/>
            <a:ext cx="190500" cy="76200"/>
          </a:xfrm>
          <a:prstGeom prst="rect">
            <a:avLst/>
          </a:prstGeom>
          <a:solidFill>
            <a:srgbClr val="00239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/>
          <p:cNvSpPr/>
          <p:nvPr/>
        </p:nvSpPr>
        <p:spPr>
          <a:xfrm>
            <a:off x="11379200" y="6426200"/>
            <a:ext cx="190500" cy="762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/>
          <p:cNvSpPr/>
          <p:nvPr/>
        </p:nvSpPr>
        <p:spPr>
          <a:xfrm>
            <a:off x="11607800" y="6426200"/>
            <a:ext cx="190500" cy="76200"/>
          </a:xfrm>
          <a:prstGeom prst="rect">
            <a:avLst/>
          </a:prstGeom>
          <a:solidFill>
            <a:srgbClr val="ED29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/>
          <p:cNvSpPr txBox="1"/>
          <p:nvPr/>
        </p:nvSpPr>
        <p:spPr>
          <a:xfrm>
            <a:off x="698500" y="1422400"/>
            <a:ext cx="596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15900" indent="-215900">
              <a:lnSpc>
                <a:spcPct val="112000"/>
              </a:lnSpc>
              <a:spcAft>
                <a:spcPts val="1100"/>
              </a:spcAft>
            </a:pPr>
            <a:r>
              <a:rPr lang="pt-BR" sz="1350">
                <a:solidFill>
                  <a:srgbClr val="1A1A2E"/>
                </a:solidFill>
                <a:latin typeface="Segoe UI" panose="020B0502040204020203" pitchFamily="34" charset="0"/>
              </a:rPr>
              <a:t>•  </a:t>
            </a:r>
            <a:r>
              <a:rPr lang="pt-BR" sz="1350" b="1">
                <a:solidFill>
                  <a:srgbClr val="002395"/>
                </a:solidFill>
                <a:latin typeface="Segoe UI" panose="020B0502040204020203" pitchFamily="34" charset="0"/>
              </a:rPr>
              <a:t> Torre Eiffe</a:t>
            </a:r>
            <a:r>
              <a:rPr lang="pt-BR" sz="1350">
                <a:solidFill>
                  <a:srgbClr val="1A1A2E"/>
                </a:solidFill>
                <a:latin typeface="Segoe UI" panose="020B0502040204020203" pitchFamily="34" charset="0"/>
              </a:rPr>
              <a:t>l — montada para a Exposição Universal de 1889 e ia ser desmontada em 1909; cresce cerca de 15 cm no verão e tem mais de 20 mil lâmpadas.</a:t>
            </a:r>
          </a:p>
          <a:p>
            <a:pPr marL="215900" indent="-215900">
              <a:lnSpc>
                <a:spcPct val="112000"/>
              </a:lnSpc>
              <a:spcAft>
                <a:spcPts val="1100"/>
              </a:spcAft>
            </a:pPr>
            <a:r>
              <a:rPr lang="pt-BR" sz="1350">
                <a:solidFill>
                  <a:srgbClr val="1A1A2E"/>
                </a:solidFill>
                <a:latin typeface="Segoe UI" panose="020B0502040204020203" pitchFamily="34" charset="0"/>
              </a:rPr>
              <a:t>•  </a:t>
            </a:r>
            <a:r>
              <a:rPr lang="pt-BR" sz="1350" b="1">
                <a:solidFill>
                  <a:srgbClr val="002395"/>
                </a:solidFill>
                <a:latin typeface="Segoe UI" panose="020B0502040204020203" pitchFamily="34" charset="0"/>
              </a:rPr>
              <a:t> Mont Saint-Miche</a:t>
            </a:r>
            <a:r>
              <a:rPr lang="pt-BR" sz="1350">
                <a:solidFill>
                  <a:srgbClr val="1A1A2E"/>
                </a:solidFill>
                <a:latin typeface="Segoe UI" panose="020B0502040204020203" pitchFamily="34" charset="0"/>
              </a:rPr>
              <a:t>l — a abadia "vira ilha" na maré alta: o nível da água pode subir até 14 metros.</a:t>
            </a:r>
          </a:p>
          <a:p>
            <a:pPr marL="215900" indent="-215900">
              <a:lnSpc>
                <a:spcPct val="112000"/>
              </a:lnSpc>
              <a:spcAft>
                <a:spcPts val="1100"/>
              </a:spcAft>
            </a:pPr>
            <a:r>
              <a:rPr lang="pt-BR" sz="1350">
                <a:solidFill>
                  <a:srgbClr val="1A1A2E"/>
                </a:solidFill>
                <a:latin typeface="Segoe UI" panose="020B0502040204020203" pitchFamily="34" charset="0"/>
              </a:rPr>
              <a:t>•  </a:t>
            </a:r>
            <a:r>
              <a:rPr lang="pt-BR" sz="1350" b="1">
                <a:solidFill>
                  <a:srgbClr val="002395"/>
                </a:solidFill>
                <a:latin typeface="Segoe UI" panose="020B0502040204020203" pitchFamily="34" charset="0"/>
              </a:rPr>
              <a:t> Turismo record</a:t>
            </a:r>
            <a:r>
              <a:rPr lang="pt-BR" sz="1350">
                <a:solidFill>
                  <a:srgbClr val="1A1A2E"/>
                </a:solidFill>
                <a:latin typeface="Segoe UI" panose="020B0502040204020203" pitchFamily="34" charset="0"/>
              </a:rPr>
              <a:t>e — a França é o país mais visitado do mundo, com quase 100 milhões de turistas por ano.</a:t>
            </a:r>
          </a:p>
          <a:p>
            <a:pPr marL="215900" indent="-215900">
              <a:lnSpc>
                <a:spcPct val="112000"/>
              </a:lnSpc>
              <a:spcAft>
                <a:spcPts val="1100"/>
              </a:spcAft>
            </a:pPr>
            <a:r>
              <a:rPr lang="pt-BR" sz="1350">
                <a:solidFill>
                  <a:srgbClr val="1A1A2E"/>
                </a:solidFill>
                <a:latin typeface="Segoe UI" panose="020B0502040204020203" pitchFamily="34" charset="0"/>
              </a:rPr>
              <a:t>•  </a:t>
            </a:r>
            <a:r>
              <a:rPr lang="pt-BR" sz="1350" b="1">
                <a:solidFill>
                  <a:srgbClr val="002395"/>
                </a:solidFill>
                <a:latin typeface="Segoe UI" panose="020B0502040204020203" pitchFamily="34" charset="0"/>
              </a:rPr>
              <a:t> Queijos e pã</a:t>
            </a:r>
            <a:r>
              <a:rPr lang="pt-BR" sz="1350">
                <a:solidFill>
                  <a:srgbClr val="1A1A2E"/>
                </a:solidFill>
                <a:latin typeface="Segoe UI" panose="020B0502040204020203" pitchFamily="34" charset="0"/>
              </a:rPr>
              <a:t>o — mais de 1.000 variedades de queijos e cerca de 30 kg por pessoa por ano; a baguete virou patrimônio da UNESCO em 2022.</a:t>
            </a:r>
          </a:p>
          <a:p>
            <a:pPr marL="215900" indent="-215900">
              <a:lnSpc>
                <a:spcPct val="112000"/>
              </a:lnSpc>
              <a:spcAft>
                <a:spcPts val="1100"/>
              </a:spcAft>
            </a:pPr>
            <a:r>
              <a:rPr lang="pt-BR" sz="1350">
                <a:solidFill>
                  <a:srgbClr val="1A1A2E"/>
                </a:solidFill>
                <a:latin typeface="Segoe UI" panose="020B0502040204020203" pitchFamily="34" charset="0"/>
              </a:rPr>
              <a:t>•  </a:t>
            </a:r>
            <a:r>
              <a:rPr lang="pt-BR" sz="1350" b="1">
                <a:solidFill>
                  <a:srgbClr val="002395"/>
                </a:solidFill>
                <a:latin typeface="Segoe UI" panose="020B0502040204020203" pitchFamily="34" charset="0"/>
              </a:rPr>
              <a:t> Galo gaulê</a:t>
            </a:r>
            <a:r>
              <a:rPr lang="pt-BR" sz="1350">
                <a:solidFill>
                  <a:srgbClr val="1A1A2E"/>
                </a:solidFill>
                <a:latin typeface="Segoe UI" panose="020B0502040204020203" pitchFamily="34" charset="0"/>
              </a:rPr>
              <a:t>s — símbolo da França desde a Idade Média: no latim, "gallus" significa galo e gauleso ao mesmo tempo.</a:t>
            </a:r>
          </a:p>
          <a:p>
            <a:pPr marL="215900" indent="-215900">
              <a:lnSpc>
                <a:spcPct val="112000"/>
              </a:lnSpc>
              <a:spcAft>
                <a:spcPts val="1100"/>
              </a:spcAft>
            </a:pPr>
            <a:r>
              <a:rPr lang="pt-BR" sz="1350">
                <a:solidFill>
                  <a:srgbClr val="1A1A2E"/>
                </a:solidFill>
                <a:latin typeface="Segoe UI" panose="020B0502040204020203" pitchFamily="34" charset="0"/>
              </a:rPr>
              <a:t>•  </a:t>
            </a:r>
            <a:r>
              <a:rPr lang="pt-BR" sz="1350" b="1">
                <a:solidFill>
                  <a:srgbClr val="002395"/>
                </a:solidFill>
                <a:latin typeface="Segoe UI" panose="020B0502040204020203" pitchFamily="34" charset="0"/>
              </a:rPr>
              <a:t> Sorbonn</a:t>
            </a:r>
            <a:r>
              <a:rPr lang="pt-BR" sz="1350">
                <a:solidFill>
                  <a:srgbClr val="1A1A2E"/>
                </a:solidFill>
                <a:latin typeface="Segoe UI" panose="020B0502040204020203" pitchFamily="34" charset="0"/>
              </a:rPr>
              <a:t>e — a Universidade de Paris, fundada em 1200, é uma das mais antigas da Europa.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7023100" y="1333500"/>
            <a:ext cx="4559300" cy="28448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BDFE8"/>
            </a:solidFill>
            <a:prstDash val="solid"/>
            <a:miter lim="800000"/>
          </a:ln>
          <a:effectLst>
            <a:outerShdw blurRad="114300" dist="50800" dir="5400000" rotWithShape="0">
              <a:srgbClr val="000000">
                <a:alpha val="1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3" name="Imagem 12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0" y="1422400"/>
            <a:ext cx="4381500" cy="2667000"/>
          </a:xfrm>
          <a:prstGeom prst="rect">
            <a:avLst/>
          </a:prstGeom>
        </p:spPr>
      </p:pic>
      <p:sp>
        <p:nvSpPr>
          <p:cNvPr id="14" name="CaixaDeTexto 13"/>
          <p:cNvSpPr txBox="1"/>
          <p:nvPr/>
        </p:nvSpPr>
        <p:spPr>
          <a:xfrm>
            <a:off x="7112000" y="4241800"/>
            <a:ext cx="43815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950">
                <a:solidFill>
                  <a:srgbClr val="606474"/>
                </a:solidFill>
                <a:latin typeface="Segoe UI" panose="020B0502040204020203" pitchFamily="34" charset="0"/>
              </a:rPr>
              <a:t>Mont Saint-Michel: maré alta vira maré baixa</a:t>
            </a:r>
          </a:p>
        </p:txBody>
      </p:sp>
      <p:pic>
        <p:nvPicPr>
          <p:cNvPr id="15" name="Imagem 14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2500" y="4635500"/>
            <a:ext cx="1041400" cy="1587500"/>
          </a:xfrm>
          <a:prstGeom prst="rect">
            <a:avLst/>
          </a:prstGeom>
        </p:spPr>
      </p:pic>
      <p:sp>
        <p:nvSpPr>
          <p:cNvPr id="16" name="CaixaDeTexto 15"/>
          <p:cNvSpPr txBox="1"/>
          <p:nvPr/>
        </p:nvSpPr>
        <p:spPr>
          <a:xfrm>
            <a:off x="8572500" y="4673600"/>
            <a:ext cx="2921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pt-BR" sz="1150">
                <a:solidFill>
                  <a:srgbClr val="606474"/>
                </a:solidFill>
                <a:latin typeface="Segoe UI" panose="020B0502040204020203" pitchFamily="34" charset="0"/>
              </a:rPr>
              <a:t>A França tem 12 fusos horários (recorde mundial), mais de 46 mil castelos e a maior rede de metrô e trem de alta velocidade da Europa.</a:t>
            </a:r>
          </a:p>
        </p:txBody>
      </p:sp>
    </p:spTree>
    <p:extLst>
      <p:ext uri="{BB962C8B-B14F-4D97-AF65-F5344CB8AC3E}">
        <p14:creationId xmlns:p14="http://schemas.microsoft.com/office/powerpoint/2010/main" val="64958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/>
          <p:cNvSpPr/>
          <p:nvPr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00239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/>
          <p:cNvSpPr/>
          <p:nvPr/>
        </p:nvSpPr>
        <p:spPr>
          <a:xfrm>
            <a:off x="0" y="990600"/>
            <a:ext cx="12192000" cy="63500"/>
          </a:xfrm>
          <a:prstGeom prst="rect">
            <a:avLst/>
          </a:prstGeom>
          <a:solidFill>
            <a:srgbClr val="ED29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/>
          <p:cNvSpPr txBox="1"/>
          <p:nvPr/>
        </p:nvSpPr>
        <p:spPr>
          <a:xfrm>
            <a:off x="698500" y="203200"/>
            <a:ext cx="10033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2600" b="1">
                <a:solidFill>
                  <a:srgbClr val="FFFFFF"/>
                </a:solidFill>
                <a:latin typeface="Georgia" panose="02040502050405020303" pitchFamily="18" charset="0"/>
              </a:rPr>
              <a:t>6. Culinária francesa</a:t>
            </a:r>
          </a:p>
        </p:txBody>
      </p:sp>
      <p:sp>
        <p:nvSpPr>
          <p:cNvPr id="6" name="Elipse 5"/>
          <p:cNvSpPr/>
          <p:nvPr/>
        </p:nvSpPr>
        <p:spPr>
          <a:xfrm>
            <a:off x="11226800" y="203200"/>
            <a:ext cx="584200" cy="5842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pt-BR" sz="1600" b="1">
                <a:solidFill>
                  <a:srgbClr val="002395"/>
                </a:solidFill>
                <a:latin typeface="Georgia" panose="02040502050405020303" pitchFamily="18" charset="0"/>
              </a:rPr>
              <a:t>07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698500" y="6350000"/>
            <a:ext cx="660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950">
                <a:solidFill>
                  <a:srgbClr val="606474"/>
                </a:solidFill>
                <a:latin typeface="Segoe UI" panose="020B0502040204020203" pitchFamily="34" charset="0"/>
              </a:rPr>
              <a:t>França • História, cultura, culinária e curiosidades</a:t>
            </a:r>
          </a:p>
        </p:txBody>
      </p:sp>
      <p:sp>
        <p:nvSpPr>
          <p:cNvPr id="8" name="Retângulo 7"/>
          <p:cNvSpPr/>
          <p:nvPr/>
        </p:nvSpPr>
        <p:spPr>
          <a:xfrm>
            <a:off x="11150600" y="6426200"/>
            <a:ext cx="190500" cy="76200"/>
          </a:xfrm>
          <a:prstGeom prst="rect">
            <a:avLst/>
          </a:prstGeom>
          <a:solidFill>
            <a:srgbClr val="00239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/>
          <p:cNvSpPr/>
          <p:nvPr/>
        </p:nvSpPr>
        <p:spPr>
          <a:xfrm>
            <a:off x="11379200" y="6426200"/>
            <a:ext cx="190500" cy="762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/>
          <p:cNvSpPr/>
          <p:nvPr/>
        </p:nvSpPr>
        <p:spPr>
          <a:xfrm>
            <a:off x="11607800" y="6426200"/>
            <a:ext cx="190500" cy="76200"/>
          </a:xfrm>
          <a:prstGeom prst="rect">
            <a:avLst/>
          </a:prstGeom>
          <a:solidFill>
            <a:srgbClr val="ED29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/>
          <p:cNvSpPr txBox="1"/>
          <p:nvPr/>
        </p:nvSpPr>
        <p:spPr>
          <a:xfrm>
            <a:off x="698500" y="1422400"/>
            <a:ext cx="596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15900" indent="-215900">
              <a:lnSpc>
                <a:spcPct val="112000"/>
              </a:lnSpc>
              <a:spcAft>
                <a:spcPts val="1000"/>
              </a:spcAft>
            </a:pPr>
            <a:r>
              <a:rPr lang="pt-BR" sz="1350">
                <a:solidFill>
                  <a:srgbClr val="1A1A2E"/>
                </a:solidFill>
                <a:latin typeface="Segoe UI" panose="020B0502040204020203" pitchFamily="34" charset="0"/>
              </a:rPr>
              <a:t>•  </a:t>
            </a:r>
            <a:r>
              <a:rPr lang="pt-BR" sz="1350" b="1">
                <a:solidFill>
                  <a:srgbClr val="002395"/>
                </a:solidFill>
                <a:latin typeface="Segoe UI" panose="020B0502040204020203" pitchFamily="34" charset="0"/>
              </a:rPr>
              <a:t> Refeição clássic</a:t>
            </a:r>
            <a:r>
              <a:rPr lang="pt-BR" sz="1350">
                <a:solidFill>
                  <a:srgbClr val="1A1A2E"/>
                </a:solidFill>
                <a:latin typeface="Segoe UI" panose="020B0502040204020203" pitchFamily="34" charset="0"/>
              </a:rPr>
              <a:t>a — entrée (entrada), plat (prato principal), fromage (queijos) e dessert (sobremesa).</a:t>
            </a:r>
          </a:p>
          <a:p>
            <a:pPr marL="215900" indent="-215900">
              <a:lnSpc>
                <a:spcPct val="112000"/>
              </a:lnSpc>
              <a:spcAft>
                <a:spcPts val="1000"/>
              </a:spcAft>
            </a:pPr>
            <a:r>
              <a:rPr lang="pt-BR" sz="1350">
                <a:solidFill>
                  <a:srgbClr val="1A1A2E"/>
                </a:solidFill>
                <a:latin typeface="Segoe UI" panose="020B0502040204020203" pitchFamily="34" charset="0"/>
              </a:rPr>
              <a:t>•  </a:t>
            </a:r>
            <a:r>
              <a:rPr lang="pt-BR" sz="1350" b="1">
                <a:solidFill>
                  <a:srgbClr val="002395"/>
                </a:solidFill>
                <a:latin typeface="Segoe UI" panose="020B0502040204020203" pitchFamily="34" charset="0"/>
              </a:rPr>
              <a:t> Pratos famoso</a:t>
            </a:r>
            <a:r>
              <a:rPr lang="pt-BR" sz="1350">
                <a:solidFill>
                  <a:srgbClr val="1A1A2E"/>
                </a:solidFill>
                <a:latin typeface="Segoe UI" panose="020B0502040204020203" pitchFamily="34" charset="0"/>
              </a:rPr>
              <a:t>s — coq au vin, bouillabaisse de Marselha, ratatouille, pot-au-feu, quiche lorraine, escargot e foie gras.</a:t>
            </a:r>
          </a:p>
          <a:p>
            <a:pPr marL="215900" indent="-215900">
              <a:lnSpc>
                <a:spcPct val="112000"/>
              </a:lnSpc>
              <a:spcAft>
                <a:spcPts val="1000"/>
              </a:spcAft>
            </a:pPr>
            <a:r>
              <a:rPr lang="pt-BR" sz="1350">
                <a:solidFill>
                  <a:srgbClr val="1A1A2E"/>
                </a:solidFill>
                <a:latin typeface="Segoe UI" panose="020B0502040204020203" pitchFamily="34" charset="0"/>
              </a:rPr>
              <a:t>•  </a:t>
            </a:r>
            <a:r>
              <a:rPr lang="pt-BR" sz="1350" b="1">
                <a:solidFill>
                  <a:srgbClr val="002395"/>
                </a:solidFill>
                <a:latin typeface="Segoe UI" panose="020B0502040204020203" pitchFamily="34" charset="0"/>
              </a:rPr>
              <a:t> Pãe</a:t>
            </a:r>
            <a:r>
              <a:rPr lang="pt-BR" sz="1350">
                <a:solidFill>
                  <a:srgbClr val="1A1A2E"/>
                </a:solidFill>
                <a:latin typeface="Segoe UI" panose="020B0502040204020203" pitchFamily="34" charset="0"/>
              </a:rPr>
              <a:t>s — baguette, croissant, brioche e as crêpes da Bretanha.</a:t>
            </a:r>
          </a:p>
          <a:p>
            <a:pPr marL="215900" indent="-215900">
              <a:lnSpc>
                <a:spcPct val="112000"/>
              </a:lnSpc>
              <a:spcAft>
                <a:spcPts val="1000"/>
              </a:spcAft>
            </a:pPr>
            <a:r>
              <a:rPr lang="pt-BR" sz="1350">
                <a:solidFill>
                  <a:srgbClr val="1A1A2E"/>
                </a:solidFill>
                <a:latin typeface="Segoe UI" panose="020B0502040204020203" pitchFamily="34" charset="0"/>
              </a:rPr>
              <a:t>•  </a:t>
            </a:r>
            <a:r>
              <a:rPr lang="pt-BR" sz="1350" b="1">
                <a:solidFill>
                  <a:srgbClr val="002395"/>
                </a:solidFill>
                <a:latin typeface="Segoe UI" panose="020B0502040204020203" pitchFamily="34" charset="0"/>
              </a:rPr>
              <a:t> Queijo</a:t>
            </a:r>
            <a:r>
              <a:rPr lang="pt-BR" sz="1350">
                <a:solidFill>
                  <a:srgbClr val="1A1A2E"/>
                </a:solidFill>
                <a:latin typeface="Segoe UI" panose="020B0502040204020203" pitchFamily="34" charset="0"/>
              </a:rPr>
              <a:t>s — Brie, Camembert, Roquefort, Comté e Gruyère, entre mais de mil variedades.</a:t>
            </a:r>
          </a:p>
          <a:p>
            <a:pPr marL="215900" indent="-215900">
              <a:lnSpc>
                <a:spcPct val="112000"/>
              </a:lnSpc>
              <a:spcAft>
                <a:spcPts val="1000"/>
              </a:spcAft>
            </a:pPr>
            <a:r>
              <a:rPr lang="pt-BR" sz="1350">
                <a:solidFill>
                  <a:srgbClr val="1A1A2E"/>
                </a:solidFill>
                <a:latin typeface="Segoe UI" panose="020B0502040204020203" pitchFamily="34" charset="0"/>
              </a:rPr>
              <a:t>•  </a:t>
            </a:r>
            <a:r>
              <a:rPr lang="pt-BR" sz="1350" b="1">
                <a:solidFill>
                  <a:srgbClr val="002395"/>
                </a:solidFill>
                <a:latin typeface="Segoe UI" panose="020B0502040204020203" pitchFamily="34" charset="0"/>
              </a:rPr>
              <a:t> Vinho</a:t>
            </a:r>
            <a:r>
              <a:rPr lang="pt-BR" sz="1350">
                <a:solidFill>
                  <a:srgbClr val="1A1A2E"/>
                </a:solidFill>
                <a:latin typeface="Segoe UI" panose="020B0502040204020203" pitchFamily="34" charset="0"/>
              </a:rPr>
              <a:t>s — Bordeaux, Borgonha, Champagne e Alsácia, com controle de origem (AOP/AOC).</a:t>
            </a:r>
          </a:p>
          <a:p>
            <a:pPr marL="215900" indent="-215900">
              <a:lnSpc>
                <a:spcPct val="112000"/>
              </a:lnSpc>
              <a:spcAft>
                <a:spcPts val="1000"/>
              </a:spcAft>
            </a:pPr>
            <a:r>
              <a:rPr lang="pt-BR" sz="1350">
                <a:solidFill>
                  <a:srgbClr val="1A1A2E"/>
                </a:solidFill>
                <a:latin typeface="Segoe UI" panose="020B0502040204020203" pitchFamily="34" charset="0"/>
              </a:rPr>
              <a:t>•  </a:t>
            </a:r>
            <a:r>
              <a:rPr lang="pt-BR" sz="1350" b="1">
                <a:solidFill>
                  <a:srgbClr val="002395"/>
                </a:solidFill>
                <a:latin typeface="Segoe UI" panose="020B0502040204020203" pitchFamily="34" charset="0"/>
              </a:rPr>
              <a:t> Doce</a:t>
            </a:r>
            <a:r>
              <a:rPr lang="pt-BR" sz="1350">
                <a:solidFill>
                  <a:srgbClr val="1A1A2E"/>
                </a:solidFill>
                <a:latin typeface="Segoe UI" panose="020B0502040204020203" pitchFamily="34" charset="0"/>
              </a:rPr>
              <a:t>s — macaron, crème brûlée, tarte tatin, éclair e mille-feuille.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698500" y="5308600"/>
            <a:ext cx="5016500" cy="939800"/>
          </a:xfrm>
          <a:prstGeom prst="rect">
            <a:avLst/>
          </a:prstGeom>
          <a:solidFill>
            <a:srgbClr val="E8EEFA"/>
          </a:solidFill>
          <a:ln w="12700" cap="flat" cmpd="sng" algn="ctr">
            <a:solidFill>
              <a:srgbClr val="002395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/>
          <p:cNvSpPr txBox="1"/>
          <p:nvPr/>
        </p:nvSpPr>
        <p:spPr>
          <a:xfrm>
            <a:off x="863600" y="5422900"/>
            <a:ext cx="4699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15000"/>
              </a:lnSpc>
            </a:pPr>
            <a:r>
              <a:rPr lang="pt-BR" sz="1100">
                <a:solidFill>
                  <a:srgbClr val="001660"/>
                </a:solidFill>
                <a:latin typeface="Segoe UI" panose="020B0502040204020203" pitchFamily="34" charset="0"/>
              </a:rPr>
              <a:t>"Como governar um país que tem 400 tipos de queijo?" — Charles de Gaulle. A refeição francesa é patrimônio da humanidade (UNESCO, 2010).</a:t>
            </a:r>
          </a:p>
        </p:txBody>
      </p:sp>
      <p:pic>
        <p:nvPicPr>
          <p:cNvPr id="14" name="Imagem 13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8500" y="5410200"/>
            <a:ext cx="1143000" cy="736600"/>
          </a:xfrm>
          <a:prstGeom prst="rect">
            <a:avLst/>
          </a:prstGeom>
        </p:spPr>
      </p:pic>
      <p:sp>
        <p:nvSpPr>
          <p:cNvPr id="15" name="Retângulo 14"/>
          <p:cNvSpPr/>
          <p:nvPr/>
        </p:nvSpPr>
        <p:spPr>
          <a:xfrm>
            <a:off x="6959600" y="1333500"/>
            <a:ext cx="4622800" cy="20193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BDFE8"/>
            </a:solidFill>
            <a:prstDash val="solid"/>
            <a:miter lim="800000"/>
          </a:ln>
          <a:effectLst>
            <a:outerShdw blurRad="114300" dist="50800" dir="5400000" rotWithShape="0">
              <a:srgbClr val="000000">
                <a:alpha val="1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6" name="Imagem 15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8500" y="1422400"/>
            <a:ext cx="4445000" cy="1841500"/>
          </a:xfrm>
          <a:prstGeom prst="rect">
            <a:avLst/>
          </a:prstGeom>
        </p:spPr>
      </p:pic>
      <p:sp>
        <p:nvSpPr>
          <p:cNvPr id="17" name="CaixaDeTexto 16"/>
          <p:cNvSpPr txBox="1"/>
          <p:nvPr/>
        </p:nvSpPr>
        <p:spPr>
          <a:xfrm>
            <a:off x="7048500" y="3416300"/>
            <a:ext cx="444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950">
                <a:solidFill>
                  <a:srgbClr val="606474"/>
                </a:solidFill>
                <a:latin typeface="Segoe UI" panose="020B0502040204020203" pitchFamily="34" charset="0"/>
              </a:rPr>
              <a:t>Croissant e cafe: o cafe da manha frances</a:t>
            </a:r>
          </a:p>
        </p:txBody>
      </p:sp>
      <p:sp>
        <p:nvSpPr>
          <p:cNvPr id="18" name="Retângulo 17"/>
          <p:cNvSpPr/>
          <p:nvPr/>
        </p:nvSpPr>
        <p:spPr>
          <a:xfrm>
            <a:off x="6959600" y="3784600"/>
            <a:ext cx="2908300" cy="20193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BDFE8"/>
            </a:solidFill>
            <a:prstDash val="solid"/>
            <a:miter lim="800000"/>
          </a:ln>
          <a:effectLst>
            <a:outerShdw blurRad="114300" dist="50800" dir="5400000" rotWithShape="0">
              <a:srgbClr val="000000">
                <a:alpha val="1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9" name="Imagem 18"/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8500" y="3873500"/>
            <a:ext cx="2730500" cy="1841500"/>
          </a:xfrm>
          <a:prstGeom prst="rect">
            <a:avLst/>
          </a:prstGeom>
        </p:spPr>
      </p:pic>
      <p:sp>
        <p:nvSpPr>
          <p:cNvPr id="20" name="CaixaDeTexto 19"/>
          <p:cNvSpPr txBox="1"/>
          <p:nvPr/>
        </p:nvSpPr>
        <p:spPr>
          <a:xfrm>
            <a:off x="7048500" y="5867400"/>
            <a:ext cx="27305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950">
                <a:solidFill>
                  <a:srgbClr val="606474"/>
                </a:solidFill>
                <a:latin typeface="Segoe UI" panose="020B0502040204020203" pitchFamily="34" charset="0"/>
              </a:rPr>
              <a:t>Prato de queijos</a:t>
            </a:r>
          </a:p>
        </p:txBody>
      </p:sp>
      <p:sp>
        <p:nvSpPr>
          <p:cNvPr id="21" name="Retângulo 20"/>
          <p:cNvSpPr/>
          <p:nvPr/>
        </p:nvSpPr>
        <p:spPr>
          <a:xfrm>
            <a:off x="9944100" y="3784600"/>
            <a:ext cx="1638300" cy="20193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BDFE8"/>
            </a:solidFill>
            <a:prstDash val="solid"/>
            <a:miter lim="800000"/>
          </a:ln>
          <a:effectLst>
            <a:outerShdw blurRad="114300" dist="50800" dir="5400000" rotWithShape="0">
              <a:srgbClr val="000000">
                <a:alpha val="1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2" name="Imagem 21"/>
          <p:cNvPicPr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3000" y="3873500"/>
            <a:ext cx="1460500" cy="1841500"/>
          </a:xfrm>
          <a:prstGeom prst="rect">
            <a:avLst/>
          </a:prstGeom>
        </p:spPr>
      </p:pic>
      <p:sp>
        <p:nvSpPr>
          <p:cNvPr id="23" name="CaixaDeTexto 22"/>
          <p:cNvSpPr txBox="1"/>
          <p:nvPr/>
        </p:nvSpPr>
        <p:spPr>
          <a:xfrm>
            <a:off x="10033000" y="5867400"/>
            <a:ext cx="14605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950">
                <a:solidFill>
                  <a:srgbClr val="606474"/>
                </a:solidFill>
                <a:latin typeface="Segoe UI" panose="020B0502040204020203" pitchFamily="34" charset="0"/>
              </a:rPr>
              <a:t>Vinho de Bordeaux</a:t>
            </a:r>
          </a:p>
        </p:txBody>
      </p:sp>
    </p:spTree>
    <p:extLst>
      <p:ext uri="{BB962C8B-B14F-4D97-AF65-F5344CB8AC3E}">
        <p14:creationId xmlns:p14="http://schemas.microsoft.com/office/powerpoint/2010/main" val="36347342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/>
          <p:cNvSpPr/>
          <p:nvPr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00239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/>
          <p:cNvSpPr/>
          <p:nvPr/>
        </p:nvSpPr>
        <p:spPr>
          <a:xfrm>
            <a:off x="0" y="990600"/>
            <a:ext cx="12192000" cy="63500"/>
          </a:xfrm>
          <a:prstGeom prst="rect">
            <a:avLst/>
          </a:prstGeom>
          <a:solidFill>
            <a:srgbClr val="ED29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/>
          <p:cNvSpPr txBox="1"/>
          <p:nvPr/>
        </p:nvSpPr>
        <p:spPr>
          <a:xfrm>
            <a:off x="698500" y="203200"/>
            <a:ext cx="10033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2600" b="1">
                <a:solidFill>
                  <a:srgbClr val="FFFFFF"/>
                </a:solidFill>
                <a:latin typeface="Georgia" panose="02040502050405020303" pitchFamily="18" charset="0"/>
              </a:rPr>
              <a:t>7. Tradições e festas</a:t>
            </a:r>
          </a:p>
        </p:txBody>
      </p:sp>
      <p:sp>
        <p:nvSpPr>
          <p:cNvPr id="6" name="Elipse 5"/>
          <p:cNvSpPr/>
          <p:nvPr/>
        </p:nvSpPr>
        <p:spPr>
          <a:xfrm>
            <a:off x="11226800" y="203200"/>
            <a:ext cx="584200" cy="5842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pt-BR" sz="1600" b="1">
                <a:solidFill>
                  <a:srgbClr val="002395"/>
                </a:solidFill>
                <a:latin typeface="Georgia" panose="02040502050405020303" pitchFamily="18" charset="0"/>
              </a:rPr>
              <a:t>08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698500" y="6350000"/>
            <a:ext cx="660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950">
                <a:solidFill>
                  <a:srgbClr val="606474"/>
                </a:solidFill>
                <a:latin typeface="Segoe UI" panose="020B0502040204020203" pitchFamily="34" charset="0"/>
              </a:rPr>
              <a:t>França • História, cultura, culinária e curiosidades</a:t>
            </a:r>
          </a:p>
        </p:txBody>
      </p:sp>
      <p:sp>
        <p:nvSpPr>
          <p:cNvPr id="8" name="Retângulo 7"/>
          <p:cNvSpPr/>
          <p:nvPr/>
        </p:nvSpPr>
        <p:spPr>
          <a:xfrm>
            <a:off x="11150600" y="6426200"/>
            <a:ext cx="190500" cy="76200"/>
          </a:xfrm>
          <a:prstGeom prst="rect">
            <a:avLst/>
          </a:prstGeom>
          <a:solidFill>
            <a:srgbClr val="00239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/>
          <p:cNvSpPr/>
          <p:nvPr/>
        </p:nvSpPr>
        <p:spPr>
          <a:xfrm>
            <a:off x="11379200" y="6426200"/>
            <a:ext cx="190500" cy="762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/>
          <p:cNvSpPr/>
          <p:nvPr/>
        </p:nvSpPr>
        <p:spPr>
          <a:xfrm>
            <a:off x="11607800" y="6426200"/>
            <a:ext cx="190500" cy="76200"/>
          </a:xfrm>
          <a:prstGeom prst="rect">
            <a:avLst/>
          </a:prstGeom>
          <a:solidFill>
            <a:srgbClr val="ED29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/>
          <p:cNvSpPr txBox="1"/>
          <p:nvPr/>
        </p:nvSpPr>
        <p:spPr>
          <a:xfrm>
            <a:off x="698500" y="1422400"/>
            <a:ext cx="596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15900" indent="-215900">
              <a:lnSpc>
                <a:spcPct val="112000"/>
              </a:lnSpc>
              <a:spcAft>
                <a:spcPts val="1100"/>
              </a:spcAft>
            </a:pPr>
            <a:r>
              <a:rPr lang="pt-BR" sz="1350">
                <a:solidFill>
                  <a:srgbClr val="1A1A2E"/>
                </a:solidFill>
                <a:latin typeface="Segoe UI" panose="020B0502040204020203" pitchFamily="34" charset="0"/>
              </a:rPr>
              <a:t>•  </a:t>
            </a:r>
            <a:r>
              <a:rPr lang="pt-BR" sz="1350" b="1">
                <a:solidFill>
                  <a:srgbClr val="002395"/>
                </a:solidFill>
                <a:latin typeface="Segoe UI" panose="020B0502040204020203" pitchFamily="34" charset="0"/>
              </a:rPr>
              <a:t> 14 de julho — Fête National</a:t>
            </a:r>
            <a:r>
              <a:rPr lang="pt-BR" sz="1350">
                <a:solidFill>
                  <a:srgbClr val="1A1A2E"/>
                </a:solidFill>
                <a:latin typeface="Segoe UI" panose="020B0502040204020203" pitchFamily="34" charset="0"/>
              </a:rPr>
              <a:t>e — desfile nos Champs-Élysées e fogo de artifício na Torre Eiffel; comemora a Queda da Bastilha (1789).</a:t>
            </a:r>
          </a:p>
          <a:p>
            <a:pPr marL="215900" indent="-215900">
              <a:lnSpc>
                <a:spcPct val="112000"/>
              </a:lnSpc>
              <a:spcAft>
                <a:spcPts val="1100"/>
              </a:spcAft>
            </a:pPr>
            <a:r>
              <a:rPr lang="pt-BR" sz="1350">
                <a:solidFill>
                  <a:srgbClr val="1A1A2E"/>
                </a:solidFill>
                <a:latin typeface="Segoe UI" panose="020B0502040204020203" pitchFamily="34" charset="0"/>
              </a:rPr>
              <a:t>•  </a:t>
            </a:r>
            <a:r>
              <a:rPr lang="pt-BR" sz="1350" b="1">
                <a:solidFill>
                  <a:srgbClr val="002395"/>
                </a:solidFill>
                <a:latin typeface="Segoe UI" panose="020B0502040204020203" pitchFamily="34" charset="0"/>
              </a:rPr>
              <a:t> Réveillo</a:t>
            </a:r>
            <a:r>
              <a:rPr lang="pt-BR" sz="1350">
                <a:solidFill>
                  <a:srgbClr val="1A1A2E"/>
                </a:solidFill>
                <a:latin typeface="Segoe UI" panose="020B0502040204020203" pitchFamily="34" charset="0"/>
              </a:rPr>
              <a:t>n — noite de Natal e de Ano Novo: foie gras, ostras, bûche de Noël e a contagem regressiva na Champs-Élysées.</a:t>
            </a:r>
          </a:p>
          <a:p>
            <a:pPr marL="215900" indent="-215900">
              <a:lnSpc>
                <a:spcPct val="112000"/>
              </a:lnSpc>
              <a:spcAft>
                <a:spcPts val="1100"/>
              </a:spcAft>
            </a:pPr>
            <a:r>
              <a:rPr lang="pt-BR" sz="1350">
                <a:solidFill>
                  <a:srgbClr val="1A1A2E"/>
                </a:solidFill>
                <a:latin typeface="Segoe UI" panose="020B0502040204020203" pitchFamily="34" charset="0"/>
              </a:rPr>
              <a:t>•  </a:t>
            </a:r>
            <a:r>
              <a:rPr lang="pt-BR" sz="1350" b="1">
                <a:solidFill>
                  <a:srgbClr val="002395"/>
                </a:solidFill>
                <a:latin typeface="Segoe UI" panose="020B0502040204020203" pitchFamily="34" charset="0"/>
              </a:rPr>
              <a:t> Pâque</a:t>
            </a:r>
            <a:r>
              <a:rPr lang="pt-BR" sz="1350">
                <a:solidFill>
                  <a:srgbClr val="1A1A2E"/>
                </a:solidFill>
                <a:latin typeface="Segoe UI" panose="020B0502040204020203" pitchFamily="34" charset="0"/>
              </a:rPr>
              <a:t>s — o Père Noël deixa os presentes e as crianças caçam ovos de chocolate pelo jardim.</a:t>
            </a:r>
          </a:p>
          <a:p>
            <a:pPr marL="215900" indent="-215900">
              <a:lnSpc>
                <a:spcPct val="112000"/>
              </a:lnSpc>
              <a:spcAft>
                <a:spcPts val="1100"/>
              </a:spcAft>
            </a:pPr>
            <a:r>
              <a:rPr lang="pt-BR" sz="1350">
                <a:solidFill>
                  <a:srgbClr val="1A1A2E"/>
                </a:solidFill>
                <a:latin typeface="Segoe UI" panose="020B0502040204020203" pitchFamily="34" charset="0"/>
              </a:rPr>
              <a:t>•  </a:t>
            </a:r>
            <a:r>
              <a:rPr lang="pt-BR" sz="1350" b="1">
                <a:solidFill>
                  <a:srgbClr val="002395"/>
                </a:solidFill>
                <a:latin typeface="Segoe UI" panose="020B0502040204020203" pitchFamily="34" charset="0"/>
              </a:rPr>
              <a:t> Fête de la Musiqu</a:t>
            </a:r>
            <a:r>
              <a:rPr lang="pt-BR" sz="1350">
                <a:solidFill>
                  <a:srgbClr val="1A1A2E"/>
                </a:solidFill>
                <a:latin typeface="Segoe UI" panose="020B0502040204020203" pitchFamily="34" charset="0"/>
              </a:rPr>
              <a:t>e — em 21 de junho, o solstício de verão, bandas e DJs ocupam ruas e praças de todo o país.</a:t>
            </a:r>
          </a:p>
          <a:p>
            <a:pPr marL="215900" indent="-215900">
              <a:lnSpc>
                <a:spcPct val="112000"/>
              </a:lnSpc>
              <a:spcAft>
                <a:spcPts val="1100"/>
              </a:spcAft>
            </a:pPr>
            <a:r>
              <a:rPr lang="pt-BR" sz="1350">
                <a:solidFill>
                  <a:srgbClr val="1A1A2E"/>
                </a:solidFill>
                <a:latin typeface="Segoe UI" panose="020B0502040204020203" pitchFamily="34" charset="0"/>
              </a:rPr>
              <a:t>•  </a:t>
            </a:r>
            <a:r>
              <a:rPr lang="pt-BR" sz="1350" b="1">
                <a:solidFill>
                  <a:srgbClr val="002395"/>
                </a:solidFill>
                <a:latin typeface="Segoe UI" panose="020B0502040204020203" pitchFamily="34" charset="0"/>
              </a:rPr>
              <a:t> Festivais de verã</a:t>
            </a:r>
            <a:r>
              <a:rPr lang="pt-BR" sz="1350">
                <a:solidFill>
                  <a:srgbClr val="1A1A2E"/>
                </a:solidFill>
                <a:latin typeface="Segoe UI" panose="020B0502040204020203" pitchFamily="34" charset="0"/>
              </a:rPr>
              <a:t>o — Tour de France (julho), Festival de Cinema de Cannes (maio) e Festival de Avignon (julho).</a:t>
            </a:r>
          </a:p>
          <a:p>
            <a:pPr marL="215900" indent="-215900">
              <a:lnSpc>
                <a:spcPct val="112000"/>
              </a:lnSpc>
              <a:spcAft>
                <a:spcPts val="1100"/>
              </a:spcAft>
            </a:pPr>
            <a:r>
              <a:rPr lang="pt-BR" sz="1350">
                <a:solidFill>
                  <a:srgbClr val="1A1A2E"/>
                </a:solidFill>
                <a:latin typeface="Segoe UI" panose="020B0502040204020203" pitchFamily="34" charset="0"/>
              </a:rPr>
              <a:t>•  </a:t>
            </a:r>
            <a:r>
              <a:rPr lang="pt-BR" sz="1350" b="1">
                <a:solidFill>
                  <a:srgbClr val="002395"/>
                </a:solidFill>
                <a:latin typeface="Segoe UI" panose="020B0502040204020203" pitchFamily="34" charset="0"/>
              </a:rPr>
              <a:t> Dias de memóri</a:t>
            </a:r>
            <a:r>
              <a:rPr lang="pt-BR" sz="1350">
                <a:solidFill>
                  <a:srgbClr val="1A1A2E"/>
                </a:solidFill>
                <a:latin typeface="Segoe UI" panose="020B0502040204020203" pitchFamily="34" charset="0"/>
              </a:rPr>
              <a:t>a — 1º de maio (lírio-do-vale), Toussaint em 1º de novembro e o Armistício de 11 de novembro.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7023100" y="1333500"/>
            <a:ext cx="4559300" cy="34798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BDFE8"/>
            </a:solidFill>
            <a:prstDash val="solid"/>
            <a:miter lim="800000"/>
          </a:ln>
          <a:effectLst>
            <a:outerShdw blurRad="114300" dist="50800" dir="5400000" rotWithShape="0">
              <a:srgbClr val="000000">
                <a:alpha val="1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3" name="Imagem 12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0" y="1422400"/>
            <a:ext cx="4381500" cy="3302000"/>
          </a:xfrm>
          <a:prstGeom prst="rect">
            <a:avLst/>
          </a:prstGeom>
        </p:spPr>
      </p:pic>
      <p:sp>
        <p:nvSpPr>
          <p:cNvPr id="14" name="CaixaDeTexto 13"/>
          <p:cNvSpPr txBox="1"/>
          <p:nvPr/>
        </p:nvSpPr>
        <p:spPr>
          <a:xfrm>
            <a:off x="7112000" y="4876800"/>
            <a:ext cx="43815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950">
                <a:solidFill>
                  <a:srgbClr val="606474"/>
                </a:solidFill>
                <a:latin typeface="Segoe UI" panose="020B0502040204020203" pitchFamily="34" charset="0"/>
              </a:rPr>
              <a:t>Fogo de artificio na Torre Eiffel no dia 14 de julho</a:t>
            </a:r>
          </a:p>
        </p:txBody>
      </p:sp>
      <p:pic>
        <p:nvPicPr>
          <p:cNvPr id="15" name="Imagem 14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0" y="5270500"/>
            <a:ext cx="1244600" cy="889000"/>
          </a:xfrm>
          <a:prstGeom prst="rect">
            <a:avLst/>
          </a:prstGeom>
        </p:spPr>
      </p:pic>
      <p:sp>
        <p:nvSpPr>
          <p:cNvPr id="16" name="CaixaDeTexto 15"/>
          <p:cNvSpPr txBox="1"/>
          <p:nvPr/>
        </p:nvSpPr>
        <p:spPr>
          <a:xfrm>
            <a:off x="8826500" y="5308600"/>
            <a:ext cx="2667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pt-BR" sz="1150">
                <a:solidFill>
                  <a:srgbClr val="606474"/>
                </a:solidFill>
                <a:latin typeface="Segoe UI" panose="020B0502040204020203" pitchFamily="34" charset="0"/>
              </a:rPr>
              <a:t>Outros feriados: 8 de maio (fim da II Guerra), 15 de agosto e 25 de dezembro.</a:t>
            </a:r>
          </a:p>
        </p:txBody>
      </p:sp>
    </p:spTree>
    <p:extLst>
      <p:ext uri="{BB962C8B-B14F-4D97-AF65-F5344CB8AC3E}">
        <p14:creationId xmlns:p14="http://schemas.microsoft.com/office/powerpoint/2010/main" val="21008140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/>
          <p:cNvSpPr/>
          <p:nvPr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00239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/>
          <p:cNvSpPr/>
          <p:nvPr/>
        </p:nvSpPr>
        <p:spPr>
          <a:xfrm>
            <a:off x="0" y="990600"/>
            <a:ext cx="12192000" cy="63500"/>
          </a:xfrm>
          <a:prstGeom prst="rect">
            <a:avLst/>
          </a:prstGeom>
          <a:solidFill>
            <a:srgbClr val="ED29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/>
          <p:cNvSpPr txBox="1"/>
          <p:nvPr/>
        </p:nvSpPr>
        <p:spPr>
          <a:xfrm>
            <a:off x="698500" y="203200"/>
            <a:ext cx="10033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2600" b="1">
                <a:solidFill>
                  <a:srgbClr val="FFFFFF"/>
                </a:solidFill>
                <a:latin typeface="Georgia" panose="02040502050405020303" pitchFamily="18" charset="0"/>
              </a:rPr>
              <a:t>8. O idioma francês e traduções</a:t>
            </a:r>
          </a:p>
        </p:txBody>
      </p:sp>
      <p:sp>
        <p:nvSpPr>
          <p:cNvPr id="6" name="Elipse 5"/>
          <p:cNvSpPr/>
          <p:nvPr/>
        </p:nvSpPr>
        <p:spPr>
          <a:xfrm>
            <a:off x="11226800" y="203200"/>
            <a:ext cx="584200" cy="5842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pt-BR" sz="1600" b="1">
                <a:solidFill>
                  <a:srgbClr val="002395"/>
                </a:solidFill>
                <a:latin typeface="Georgia" panose="02040502050405020303" pitchFamily="18" charset="0"/>
              </a:rPr>
              <a:t>09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698500" y="6350000"/>
            <a:ext cx="660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950">
                <a:solidFill>
                  <a:srgbClr val="606474"/>
                </a:solidFill>
                <a:latin typeface="Segoe UI" panose="020B0502040204020203" pitchFamily="34" charset="0"/>
              </a:rPr>
              <a:t>França • História, cultura, culinária e curiosidades</a:t>
            </a:r>
          </a:p>
        </p:txBody>
      </p:sp>
      <p:sp>
        <p:nvSpPr>
          <p:cNvPr id="8" name="Retângulo 7"/>
          <p:cNvSpPr/>
          <p:nvPr/>
        </p:nvSpPr>
        <p:spPr>
          <a:xfrm>
            <a:off x="11150600" y="6426200"/>
            <a:ext cx="190500" cy="76200"/>
          </a:xfrm>
          <a:prstGeom prst="rect">
            <a:avLst/>
          </a:prstGeom>
          <a:solidFill>
            <a:srgbClr val="00239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/>
          <p:cNvSpPr/>
          <p:nvPr/>
        </p:nvSpPr>
        <p:spPr>
          <a:xfrm>
            <a:off x="11379200" y="6426200"/>
            <a:ext cx="190500" cy="762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/>
          <p:cNvSpPr/>
          <p:nvPr/>
        </p:nvSpPr>
        <p:spPr>
          <a:xfrm>
            <a:off x="11607800" y="6426200"/>
            <a:ext cx="190500" cy="76200"/>
          </a:xfrm>
          <a:prstGeom prst="rect">
            <a:avLst/>
          </a:prstGeom>
          <a:solidFill>
            <a:srgbClr val="ED29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11" name="Tabela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8124124"/>
              </p:ext>
            </p:extLst>
          </p:nvPr>
        </p:nvGraphicFramePr>
        <p:xfrm>
          <a:off x="698500" y="1422400"/>
          <a:ext cx="5969000" cy="35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4500">
                  <a:extLst>
                    <a:ext uri="{9D8B030D-6E8A-4147-A177-3AD203B41FA5}">
                      <a16:colId xmlns:a16="http://schemas.microsoft.com/office/drawing/2014/main" val="4274923540"/>
                    </a:ext>
                  </a:extLst>
                </a:gridCol>
                <a:gridCol w="2984500">
                  <a:extLst>
                    <a:ext uri="{9D8B030D-6E8A-4147-A177-3AD203B41FA5}">
                      <a16:colId xmlns:a16="http://schemas.microsoft.com/office/drawing/2014/main" val="194557955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r>
                        <a:rPr lang="pt-BR" sz="13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PORTUGUÊS</a:t>
                      </a:r>
                    </a:p>
                  </a:txBody>
                  <a:tcPr marL="127000" marR="76200" marT="25400" marB="25400" anchor="ctr">
                    <a:solidFill>
                      <a:srgbClr val="0023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FRANCÊS</a:t>
                      </a:r>
                    </a:p>
                  </a:txBody>
                  <a:tcPr marL="127000" marR="76200" marT="25400" marB="25400" anchor="ctr">
                    <a:solidFill>
                      <a:srgbClr val="00239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441247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A1A2E"/>
                          </a:solidFill>
                          <a:latin typeface="Segoe UI" panose="020B0502040204020203" pitchFamily="34" charset="0"/>
                        </a:rPr>
                        <a:t>Olá (de dia)</a:t>
                      </a:r>
                    </a:p>
                  </a:txBody>
                  <a:tcPr marL="1270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1">
                          <a:solidFill>
                            <a:srgbClr val="001660"/>
                          </a:solidFill>
                          <a:latin typeface="Segoe UI" panose="020B0502040204020203" pitchFamily="34" charset="0"/>
                        </a:rPr>
                        <a:t>Bonjour</a:t>
                      </a:r>
                    </a:p>
                  </a:txBody>
                  <a:tcPr marL="127000" marR="762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2219996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A1A2E"/>
                          </a:solidFill>
                          <a:latin typeface="Segoe UI" panose="020B0502040204020203" pitchFamily="34" charset="0"/>
                        </a:rPr>
                        <a:t>Bom dia / Boa noite</a:t>
                      </a:r>
                    </a:p>
                  </a:txBody>
                  <a:tcPr marL="127000" marR="76200" marT="25400" marB="25400" anchor="ctr"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1">
                          <a:solidFill>
                            <a:srgbClr val="001660"/>
                          </a:solidFill>
                          <a:latin typeface="Segoe UI" panose="020B0502040204020203" pitchFamily="34" charset="0"/>
                        </a:rPr>
                        <a:t>Bonjour / Bonne nuit</a:t>
                      </a:r>
                    </a:p>
                  </a:txBody>
                  <a:tcPr marL="127000" marR="76200" marT="25400" marB="25400" anchor="ctr">
                    <a:solidFill>
                      <a:srgbClr val="E8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716791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A1A2E"/>
                          </a:solidFill>
                          <a:latin typeface="Segoe UI" panose="020B0502040204020203" pitchFamily="34" charset="0"/>
                        </a:rPr>
                        <a:t>Obrigado(a)</a:t>
                      </a:r>
                    </a:p>
                  </a:txBody>
                  <a:tcPr marL="1270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1">
                          <a:solidFill>
                            <a:srgbClr val="001660"/>
                          </a:solidFill>
                          <a:latin typeface="Segoe UI" panose="020B0502040204020203" pitchFamily="34" charset="0"/>
                        </a:rPr>
                        <a:t>Merci (beaucoup)</a:t>
                      </a:r>
                    </a:p>
                  </a:txBody>
                  <a:tcPr marL="127000" marR="762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3273772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A1A2E"/>
                          </a:solidFill>
                          <a:latin typeface="Segoe UI" panose="020B0502040204020203" pitchFamily="34" charset="0"/>
                        </a:rPr>
                        <a:t>Por favor</a:t>
                      </a:r>
                    </a:p>
                  </a:txBody>
                  <a:tcPr marL="127000" marR="76200" marT="25400" marB="25400" anchor="ctr"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1">
                          <a:solidFill>
                            <a:srgbClr val="001660"/>
                          </a:solidFill>
                          <a:latin typeface="Segoe UI" panose="020B0502040204020203" pitchFamily="34" charset="0"/>
                        </a:rPr>
                        <a:t>S'il vous plaît</a:t>
                      </a:r>
                    </a:p>
                  </a:txBody>
                  <a:tcPr marL="127000" marR="76200" marT="25400" marB="25400" anchor="ctr">
                    <a:solidFill>
                      <a:srgbClr val="E8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8216008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A1A2E"/>
                          </a:solidFill>
                          <a:latin typeface="Segoe UI" panose="020B0502040204020203" pitchFamily="34" charset="0"/>
                        </a:rPr>
                        <a:t>Com licença</a:t>
                      </a:r>
                    </a:p>
                  </a:txBody>
                  <a:tcPr marL="1270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1">
                          <a:solidFill>
                            <a:srgbClr val="001660"/>
                          </a:solidFill>
                          <a:latin typeface="Segoe UI" panose="020B0502040204020203" pitchFamily="34" charset="0"/>
                        </a:rPr>
                        <a:t>Excusez-moi</a:t>
                      </a:r>
                    </a:p>
                  </a:txBody>
                  <a:tcPr marL="127000" marR="762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725513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A1A2E"/>
                          </a:solidFill>
                          <a:latin typeface="Segoe UI" panose="020B0502040204020203" pitchFamily="34" charset="0"/>
                        </a:rPr>
                        <a:t>Eu não entendo</a:t>
                      </a:r>
                    </a:p>
                  </a:txBody>
                  <a:tcPr marL="127000" marR="76200" marT="25400" marB="25400" anchor="ctr"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1">
                          <a:solidFill>
                            <a:srgbClr val="001660"/>
                          </a:solidFill>
                          <a:latin typeface="Segoe UI" panose="020B0502040204020203" pitchFamily="34" charset="0"/>
                        </a:rPr>
                        <a:t>Je ne comprends pas</a:t>
                      </a:r>
                    </a:p>
                  </a:txBody>
                  <a:tcPr marL="127000" marR="76200" marT="25400" marB="25400" anchor="ctr">
                    <a:solidFill>
                      <a:srgbClr val="E8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6440775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A1A2E"/>
                          </a:solidFill>
                          <a:latin typeface="Segoe UI" panose="020B0502040204020203" pitchFamily="34" charset="0"/>
                        </a:rPr>
                        <a:t>Quanto custa?</a:t>
                      </a:r>
                    </a:p>
                  </a:txBody>
                  <a:tcPr marL="1270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1">
                          <a:solidFill>
                            <a:srgbClr val="001660"/>
                          </a:solidFill>
                          <a:latin typeface="Segoe UI" panose="020B0502040204020203" pitchFamily="34" charset="0"/>
                        </a:rPr>
                        <a:t>Combien ça coûte ?</a:t>
                      </a:r>
                    </a:p>
                  </a:txBody>
                  <a:tcPr marL="127000" marR="762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0152075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A1A2E"/>
                          </a:solidFill>
                          <a:latin typeface="Segoe UI" panose="020B0502040204020203" pitchFamily="34" charset="0"/>
                        </a:rPr>
                        <a:t>Saúde! (brinde)</a:t>
                      </a:r>
                    </a:p>
                  </a:txBody>
                  <a:tcPr marL="127000" marR="76200" marT="25400" marB="25400" anchor="ctr"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1">
                          <a:solidFill>
                            <a:srgbClr val="001660"/>
                          </a:solidFill>
                          <a:latin typeface="Segoe UI" panose="020B0502040204020203" pitchFamily="34" charset="0"/>
                        </a:rPr>
                        <a:t>Santé !</a:t>
                      </a:r>
                    </a:p>
                  </a:txBody>
                  <a:tcPr marL="127000" marR="76200" marT="25400" marB="25400" anchor="ctr">
                    <a:solidFill>
                      <a:srgbClr val="E8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2278542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A1A2E"/>
                          </a:solidFill>
                          <a:latin typeface="Segoe UI" panose="020B0502040204020203" pitchFamily="34" charset="0"/>
                        </a:rPr>
                        <a:t>Até logo / Tchau</a:t>
                      </a:r>
                    </a:p>
                  </a:txBody>
                  <a:tcPr marL="1270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1">
                          <a:solidFill>
                            <a:srgbClr val="001660"/>
                          </a:solidFill>
                          <a:latin typeface="Segoe UI" panose="020B0502040204020203" pitchFamily="34" charset="0"/>
                        </a:rPr>
                        <a:t>Au revoir / Salut</a:t>
                      </a:r>
                    </a:p>
                  </a:txBody>
                  <a:tcPr marL="127000" marR="762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9449914"/>
                  </a:ext>
                </a:extLst>
              </a:tr>
            </a:tbl>
          </a:graphicData>
        </a:graphic>
      </p:graphicFrame>
      <p:sp>
        <p:nvSpPr>
          <p:cNvPr id="12" name="CaixaDeTexto 11"/>
          <p:cNvSpPr txBox="1"/>
          <p:nvPr/>
        </p:nvSpPr>
        <p:spPr>
          <a:xfrm>
            <a:off x="698500" y="5257800"/>
            <a:ext cx="5969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pt-BR" sz="1150">
                <a:solidFill>
                  <a:srgbClr val="606474"/>
                </a:solidFill>
                <a:latin typeface="Segoe UI" panose="020B0502040204020203" pitchFamily="34" charset="0"/>
              </a:rPr>
              <a:t>O francês é língua oficial da França e é falado por mais de 300 milhões de pessoas; é oficial em 29 países e nas organizações internacionais (ONU, UNESCO e União Europeia).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7023100" y="1333500"/>
            <a:ext cx="4559300" cy="24003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BDFE8"/>
            </a:solidFill>
            <a:prstDash val="solid"/>
            <a:miter lim="800000"/>
          </a:ln>
          <a:effectLst>
            <a:outerShdw blurRad="114300" dist="50800" dir="5400000" rotWithShape="0">
              <a:srgbClr val="000000">
                <a:alpha val="1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4" name="Imagem 13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0" y="1422400"/>
            <a:ext cx="4381500" cy="2222500"/>
          </a:xfrm>
          <a:prstGeom prst="rect">
            <a:avLst/>
          </a:prstGeom>
        </p:spPr>
      </p:pic>
      <p:sp>
        <p:nvSpPr>
          <p:cNvPr id="15" name="CaixaDeTexto 14"/>
          <p:cNvSpPr txBox="1"/>
          <p:nvPr/>
        </p:nvSpPr>
        <p:spPr>
          <a:xfrm>
            <a:off x="7112000" y="3797300"/>
            <a:ext cx="43815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950">
                <a:solidFill>
                  <a:srgbClr val="606474"/>
                </a:solidFill>
                <a:latin typeface="Segoe UI" panose="020B0502040204020203" pitchFamily="34" charset="0"/>
              </a:rPr>
              <a:t>Institut de France, sede da Academie Francesa, que cuida da lingua desde 1635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7112000" y="4254500"/>
            <a:ext cx="4381500" cy="1905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ED293A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/>
          <p:cNvSpPr txBox="1"/>
          <p:nvPr/>
        </p:nvSpPr>
        <p:spPr>
          <a:xfrm>
            <a:off x="7315200" y="4406900"/>
            <a:ext cx="3937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200" b="1">
                <a:solidFill>
                  <a:srgbClr val="ED293A"/>
                </a:solidFill>
                <a:latin typeface="Segoe UI" panose="020B0502040204020203" pitchFamily="34" charset="0"/>
              </a:rPr>
              <a:t>FALSOS AMIGOS (atenção!)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7315200" y="4737100"/>
            <a:ext cx="3962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pt-BR" sz="1150">
                <a:solidFill>
                  <a:srgbClr val="1A1A2E"/>
                </a:solidFill>
                <a:latin typeface="Segoe UI" panose="020B0502040204020203" pitchFamily="34" charset="0"/>
              </a:rPr>
              <a:t>librairie = livraria, não "livro"</a:t>
            </a:r>
          </a:p>
          <a:p>
            <a:pPr>
              <a:lnSpc>
                <a:spcPct val="130000"/>
              </a:lnSpc>
            </a:pPr>
            <a:r>
              <a:rPr lang="pt-BR" sz="1150">
                <a:solidFill>
                  <a:srgbClr val="1A1A2E"/>
                </a:solidFill>
                <a:latin typeface="Segoe UI" panose="020B0502040204020203" pitchFamily="34" charset="0"/>
              </a:rPr>
              <a:t>actuellement = atualmente</a:t>
            </a:r>
          </a:p>
          <a:p>
            <a:pPr>
              <a:lnSpc>
                <a:spcPct val="130000"/>
              </a:lnSpc>
            </a:pPr>
            <a:r>
              <a:rPr lang="pt-BR" sz="1150">
                <a:solidFill>
                  <a:srgbClr val="1A1A2E"/>
                </a:solidFill>
                <a:latin typeface="Segoe UI" panose="020B0502040204020203" pitchFamily="34" charset="0"/>
              </a:rPr>
              <a:t>éventuellement = eventualmente</a:t>
            </a:r>
          </a:p>
          <a:p>
            <a:pPr>
              <a:lnSpc>
                <a:spcPct val="130000"/>
              </a:lnSpc>
            </a:pPr>
            <a:r>
              <a:rPr lang="pt-BR" sz="1150">
                <a:solidFill>
                  <a:srgbClr val="1A1A2E"/>
                </a:solidFill>
                <a:latin typeface="Segoe UI" panose="020B0502040204020203" pitchFamily="34" charset="0"/>
              </a:rPr>
              <a:t>prendre = pegar, levar</a:t>
            </a:r>
          </a:p>
          <a:p>
            <a:pPr>
              <a:lnSpc>
                <a:spcPct val="130000"/>
              </a:lnSpc>
            </a:pPr>
            <a:r>
              <a:rPr lang="pt-BR" sz="1150">
                <a:solidFill>
                  <a:srgbClr val="1A1A2E"/>
                </a:solidFill>
                <a:latin typeface="Segoe UI" panose="020B0502040204020203" pitchFamily="34" charset="0"/>
              </a:rPr>
              <a:t>chair = carne, não "cadeira"</a:t>
            </a:r>
          </a:p>
        </p:txBody>
      </p:sp>
    </p:spTree>
    <p:extLst>
      <p:ext uri="{BB962C8B-B14F-4D97-AF65-F5344CB8AC3E}">
        <p14:creationId xmlns:p14="http://schemas.microsoft.com/office/powerpoint/2010/main" val="16340307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/>
          <p:cNvSpPr/>
          <p:nvPr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00239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/>
          <p:cNvSpPr/>
          <p:nvPr/>
        </p:nvSpPr>
        <p:spPr>
          <a:xfrm>
            <a:off x="0" y="990600"/>
            <a:ext cx="12192000" cy="63500"/>
          </a:xfrm>
          <a:prstGeom prst="rect">
            <a:avLst/>
          </a:prstGeom>
          <a:solidFill>
            <a:srgbClr val="ED29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/>
          <p:cNvSpPr txBox="1"/>
          <p:nvPr/>
        </p:nvSpPr>
        <p:spPr>
          <a:xfrm>
            <a:off x="698500" y="203200"/>
            <a:ext cx="10033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2600" b="1">
                <a:solidFill>
                  <a:srgbClr val="FFFFFF"/>
                </a:solidFill>
                <a:latin typeface="Georgia" panose="02040502050405020303" pitchFamily="18" charset="0"/>
              </a:rPr>
              <a:t>9. Diversidade cultural e conclusão</a:t>
            </a:r>
          </a:p>
        </p:txBody>
      </p:sp>
      <p:sp>
        <p:nvSpPr>
          <p:cNvPr id="6" name="Elipse 5"/>
          <p:cNvSpPr/>
          <p:nvPr/>
        </p:nvSpPr>
        <p:spPr>
          <a:xfrm>
            <a:off x="11226800" y="203200"/>
            <a:ext cx="584200" cy="5842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pt-BR" sz="1600" b="1">
                <a:solidFill>
                  <a:srgbClr val="002395"/>
                </a:solidFill>
                <a:latin typeface="Georgia" panose="02040502050405020303" pitchFamily="18" charset="0"/>
              </a:rPr>
              <a:t>10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698500" y="6350000"/>
            <a:ext cx="660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950">
                <a:solidFill>
                  <a:srgbClr val="606474"/>
                </a:solidFill>
                <a:latin typeface="Segoe UI" panose="020B0502040204020203" pitchFamily="34" charset="0"/>
              </a:rPr>
              <a:t>França • História, cultura, culinária e curiosidades</a:t>
            </a:r>
          </a:p>
        </p:txBody>
      </p:sp>
      <p:sp>
        <p:nvSpPr>
          <p:cNvPr id="8" name="Retângulo 7"/>
          <p:cNvSpPr/>
          <p:nvPr/>
        </p:nvSpPr>
        <p:spPr>
          <a:xfrm>
            <a:off x="11150600" y="6426200"/>
            <a:ext cx="190500" cy="76200"/>
          </a:xfrm>
          <a:prstGeom prst="rect">
            <a:avLst/>
          </a:prstGeom>
          <a:solidFill>
            <a:srgbClr val="00239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/>
          <p:cNvSpPr/>
          <p:nvPr/>
        </p:nvSpPr>
        <p:spPr>
          <a:xfrm>
            <a:off x="11379200" y="6426200"/>
            <a:ext cx="190500" cy="762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/>
          <p:cNvSpPr/>
          <p:nvPr/>
        </p:nvSpPr>
        <p:spPr>
          <a:xfrm>
            <a:off x="11607800" y="6426200"/>
            <a:ext cx="190500" cy="76200"/>
          </a:xfrm>
          <a:prstGeom prst="rect">
            <a:avLst/>
          </a:prstGeom>
          <a:solidFill>
            <a:srgbClr val="ED29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/>
          <p:cNvSpPr txBox="1"/>
          <p:nvPr/>
        </p:nvSpPr>
        <p:spPr>
          <a:xfrm>
            <a:off x="698500" y="1422400"/>
            <a:ext cx="596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15900" indent="-215900">
              <a:lnSpc>
                <a:spcPct val="112000"/>
              </a:lnSpc>
              <a:spcAft>
                <a:spcPts val="1100"/>
              </a:spcAft>
            </a:pPr>
            <a:r>
              <a:rPr lang="pt-BR" sz="1350">
                <a:solidFill>
                  <a:srgbClr val="1A1A2E"/>
                </a:solidFill>
                <a:latin typeface="Segoe UI" panose="020B0502040204020203" pitchFamily="34" charset="0"/>
              </a:rPr>
              <a:t>•  </a:t>
            </a:r>
            <a:r>
              <a:rPr lang="pt-BR" sz="1350" b="1">
                <a:solidFill>
                  <a:srgbClr val="002395"/>
                </a:solidFill>
                <a:latin typeface="Segoe UI" panose="020B0502040204020203" pitchFamily="34" charset="0"/>
              </a:rPr>
              <a:t> Regiões com identidad</a:t>
            </a:r>
            <a:r>
              <a:rPr lang="pt-BR" sz="1350">
                <a:solidFill>
                  <a:srgbClr val="1A1A2E"/>
                </a:solidFill>
                <a:latin typeface="Segoe UI" panose="020B0502040204020203" pitchFamily="34" charset="0"/>
              </a:rPr>
              <a:t>e — Bretanha (celta), Alsácia (alemã), Provença (ocitana), País Basco e Córsega, com línguas e festas próprias.</a:t>
            </a:r>
          </a:p>
          <a:p>
            <a:pPr marL="215900" indent="-215900">
              <a:lnSpc>
                <a:spcPct val="112000"/>
              </a:lnSpc>
              <a:spcAft>
                <a:spcPts val="1100"/>
              </a:spcAft>
            </a:pPr>
            <a:r>
              <a:rPr lang="pt-BR" sz="1350">
                <a:solidFill>
                  <a:srgbClr val="1A1A2E"/>
                </a:solidFill>
                <a:latin typeface="Segoe UI" panose="020B0502040204020203" pitchFamily="34" charset="0"/>
              </a:rPr>
              <a:t>•  </a:t>
            </a:r>
            <a:r>
              <a:rPr lang="pt-BR" sz="1350" b="1">
                <a:solidFill>
                  <a:srgbClr val="002395"/>
                </a:solidFill>
                <a:latin typeface="Segoe UI" panose="020B0502040204020203" pitchFamily="34" charset="0"/>
              </a:rPr>
              <a:t> Línguas regionai</a:t>
            </a:r>
            <a:r>
              <a:rPr lang="pt-BR" sz="1350">
                <a:solidFill>
                  <a:srgbClr val="1A1A2E"/>
                </a:solidFill>
                <a:latin typeface="Segoe UI" panose="020B0502040204020203" pitchFamily="34" charset="0"/>
              </a:rPr>
              <a:t>s — occitano, bretão, basco, corso e alsaciano ainda são falados e ensinados nas escolas.</a:t>
            </a:r>
          </a:p>
          <a:p>
            <a:pPr marL="215900" indent="-215900">
              <a:lnSpc>
                <a:spcPct val="112000"/>
              </a:lnSpc>
              <a:spcAft>
                <a:spcPts val="1100"/>
              </a:spcAft>
            </a:pPr>
            <a:r>
              <a:rPr lang="pt-BR" sz="1350">
                <a:solidFill>
                  <a:srgbClr val="1A1A2E"/>
                </a:solidFill>
                <a:latin typeface="Segoe UI" panose="020B0502040204020203" pitchFamily="34" charset="0"/>
              </a:rPr>
              <a:t>•  </a:t>
            </a:r>
            <a:r>
              <a:rPr lang="pt-BR" sz="1350" b="1">
                <a:solidFill>
                  <a:srgbClr val="002395"/>
                </a:solidFill>
                <a:latin typeface="Segoe UI" panose="020B0502040204020203" pitchFamily="34" charset="0"/>
              </a:rPr>
              <a:t> Imigraçã</a:t>
            </a:r>
            <a:r>
              <a:rPr lang="pt-BR" sz="1350">
                <a:solidFill>
                  <a:srgbClr val="1A1A2E"/>
                </a:solidFill>
                <a:latin typeface="Segoe UI" panose="020B0502040204020203" pitchFamily="34" charset="0"/>
              </a:rPr>
              <a:t>o — portugueses, italianos, espanhóis, norte-africanos e africanos criaram bairros multiétnicos, como o 13º arrondissement de Paris.</a:t>
            </a:r>
          </a:p>
          <a:p>
            <a:pPr marL="215900" indent="-215900">
              <a:lnSpc>
                <a:spcPct val="112000"/>
              </a:lnSpc>
              <a:spcAft>
                <a:spcPts val="1100"/>
              </a:spcAft>
            </a:pPr>
            <a:r>
              <a:rPr lang="pt-BR" sz="1350">
                <a:solidFill>
                  <a:srgbClr val="1A1A2E"/>
                </a:solidFill>
                <a:latin typeface="Segoe UI" panose="020B0502040204020203" pitchFamily="34" charset="0"/>
              </a:rPr>
              <a:t>•  </a:t>
            </a:r>
            <a:r>
              <a:rPr lang="pt-BR" sz="1350" b="1">
                <a:solidFill>
                  <a:srgbClr val="002395"/>
                </a:solidFill>
                <a:latin typeface="Segoe UI" panose="020B0502040204020203" pitchFamily="34" charset="0"/>
              </a:rPr>
              <a:t> Ultrama</a:t>
            </a:r>
            <a:r>
              <a:rPr lang="pt-BR" sz="1350">
                <a:solidFill>
                  <a:srgbClr val="1A1A2E"/>
                </a:solidFill>
                <a:latin typeface="Segoe UI" panose="020B0502040204020203" pitchFamily="34" charset="0"/>
              </a:rPr>
              <a:t>r — Guadalupe, Martinica, Guiana Francesa, Reunião e Mayotte levam culturas caribenhas e africanas.</a:t>
            </a:r>
          </a:p>
          <a:p>
            <a:pPr marL="215900" indent="-215900">
              <a:lnSpc>
                <a:spcPct val="112000"/>
              </a:lnSpc>
              <a:spcAft>
                <a:spcPts val="1100"/>
              </a:spcAft>
            </a:pPr>
            <a:r>
              <a:rPr lang="pt-BR" sz="1350">
                <a:solidFill>
                  <a:srgbClr val="1A1A2E"/>
                </a:solidFill>
                <a:latin typeface="Segoe UI" panose="020B0502040204020203" pitchFamily="34" charset="0"/>
              </a:rPr>
              <a:t>•  </a:t>
            </a:r>
            <a:r>
              <a:rPr lang="pt-BR" sz="1350" b="1">
                <a:solidFill>
                  <a:srgbClr val="002395"/>
                </a:solidFill>
                <a:latin typeface="Segoe UI" panose="020B0502040204020203" pitchFamily="34" charset="0"/>
              </a:rPr>
              <a:t> Convivênci</a:t>
            </a:r>
            <a:r>
              <a:rPr lang="pt-BR" sz="1350">
                <a:solidFill>
                  <a:srgbClr val="1A1A2E"/>
                </a:solidFill>
                <a:latin typeface="Segoe UI" panose="020B0502040204020203" pitchFamily="34" charset="0"/>
              </a:rPr>
              <a:t>a — católicos, muçulmanos, judeus e budistas vivem juntos; a laicidade é princípio da República.</a:t>
            </a:r>
          </a:p>
          <a:p>
            <a:pPr marL="215900" indent="-215900">
              <a:lnSpc>
                <a:spcPct val="112000"/>
              </a:lnSpc>
              <a:spcAft>
                <a:spcPts val="1100"/>
              </a:spcAft>
            </a:pPr>
            <a:r>
              <a:rPr lang="pt-BR" sz="1350">
                <a:solidFill>
                  <a:srgbClr val="1A1A2E"/>
                </a:solidFill>
                <a:latin typeface="Segoe UI" panose="020B0502040204020203" pitchFamily="34" charset="0"/>
              </a:rPr>
              <a:t>•  </a:t>
            </a:r>
            <a:r>
              <a:rPr lang="pt-BR" sz="1350" b="1">
                <a:solidFill>
                  <a:srgbClr val="002395"/>
                </a:solidFill>
                <a:latin typeface="Segoe UI" panose="020B0502040204020203" pitchFamily="34" charset="0"/>
              </a:rPr>
              <a:t> Conclusã</a:t>
            </a:r>
            <a:r>
              <a:rPr lang="pt-BR" sz="1350">
                <a:solidFill>
                  <a:srgbClr val="1A1A2E"/>
                </a:solidFill>
                <a:latin typeface="Segoe UI" panose="020B0502040204020203" pitchFamily="34" charset="0"/>
              </a:rPr>
              <a:t>o — tradição e modernidade no mesmo país: da baguete ao cinema, da Revolução à moda.</a:t>
            </a:r>
          </a:p>
        </p:txBody>
      </p:sp>
      <p:sp>
        <p:nvSpPr>
          <p:cNvPr id="12" name="CaixaDeTexto 11"/>
          <p:cNvSpPr txBox="1"/>
          <p:nvPr/>
        </p:nvSpPr>
        <p:spPr>
          <a:xfrm>
            <a:off x="698500" y="5562600"/>
            <a:ext cx="5969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 b="1">
                <a:solidFill>
                  <a:srgbClr val="ED293A"/>
                </a:solidFill>
                <a:latin typeface="Georgia" panose="02040502050405020303" pitchFamily="18" charset="0"/>
              </a:rPr>
              <a:t>Merci beaucoup ! — Muito obrigado(a)!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7023100" y="1333500"/>
            <a:ext cx="4559300" cy="24638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BDFE8"/>
            </a:solidFill>
            <a:prstDash val="solid"/>
            <a:miter lim="800000"/>
          </a:ln>
          <a:effectLst>
            <a:outerShdw blurRad="114300" dist="50800" dir="5400000" rotWithShape="0">
              <a:srgbClr val="000000">
                <a:alpha val="1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4" name="Imagem 13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0" y="1422400"/>
            <a:ext cx="4381500" cy="2286000"/>
          </a:xfrm>
          <a:prstGeom prst="rect">
            <a:avLst/>
          </a:prstGeom>
        </p:spPr>
      </p:pic>
      <p:sp>
        <p:nvSpPr>
          <p:cNvPr id="15" name="CaixaDeTexto 14"/>
          <p:cNvSpPr txBox="1"/>
          <p:nvPr/>
        </p:nvSpPr>
        <p:spPr>
          <a:xfrm>
            <a:off x="7112000" y="3860800"/>
            <a:ext cx="43815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950">
                <a:solidFill>
                  <a:srgbClr val="606474"/>
                </a:solidFill>
                <a:latin typeface="Segoe UI" panose="020B0502040204020203" pitchFamily="34" charset="0"/>
              </a:rPr>
              <a:t>Campo de lavanda na Provenca, sul da Franca</a:t>
            </a:r>
          </a:p>
        </p:txBody>
      </p:sp>
      <p:pic>
        <p:nvPicPr>
          <p:cNvPr id="16" name="Imagem 15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5500" y="4254500"/>
            <a:ext cx="1841500" cy="1917700"/>
          </a:xfrm>
          <a:prstGeom prst="rect">
            <a:avLst/>
          </a:prstGeom>
        </p:spPr>
      </p:pic>
      <p:sp>
        <p:nvSpPr>
          <p:cNvPr id="17" name="Retângulo 16"/>
          <p:cNvSpPr/>
          <p:nvPr/>
        </p:nvSpPr>
        <p:spPr>
          <a:xfrm>
            <a:off x="9207500" y="4254500"/>
            <a:ext cx="2286000" cy="1917700"/>
          </a:xfrm>
          <a:prstGeom prst="rect">
            <a:avLst/>
          </a:prstGeom>
          <a:solidFill>
            <a:srgbClr val="E8EEFA"/>
          </a:solidFill>
          <a:ln w="12700" cap="flat" cmpd="sng" algn="ctr">
            <a:solidFill>
              <a:srgbClr val="002395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/>
          <p:cNvSpPr txBox="1"/>
          <p:nvPr/>
        </p:nvSpPr>
        <p:spPr>
          <a:xfrm>
            <a:off x="9398000" y="4406900"/>
            <a:ext cx="190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200" b="1">
                <a:solidFill>
                  <a:srgbClr val="ED293A"/>
                </a:solidFill>
                <a:latin typeface="Segoe UI" panose="020B0502040204020203" pitchFamily="34" charset="0"/>
              </a:rPr>
              <a:t>18 REGIÕES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9398000" y="4724400"/>
            <a:ext cx="190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pt-BR" sz="1100">
                <a:solidFill>
                  <a:srgbClr val="001660"/>
                </a:solidFill>
                <a:latin typeface="Segoe UI" panose="020B0502040204020203" pitchFamily="34" charset="0"/>
              </a:rPr>
              <a:t>13 na metrópole (no desenho) e 5 no ultramar, espalhadas pelos oceanos Atlântico, Índico e Pacífico.</a:t>
            </a:r>
          </a:p>
        </p:txBody>
      </p:sp>
    </p:spTree>
    <p:extLst>
      <p:ext uri="{BB962C8B-B14F-4D97-AF65-F5344CB8AC3E}">
        <p14:creationId xmlns:p14="http://schemas.microsoft.com/office/powerpoint/2010/main" val="29277579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0" y="-18026"/>
            <a:ext cx="12192000" cy="6858000"/>
          </a:xfrm>
          <a:prstGeom prst="rect">
            <a:avLst/>
          </a:prstGeom>
          <a:solidFill>
            <a:srgbClr val="FBF7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/>
          <p:cNvSpPr/>
          <p:nvPr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00239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/>
          <p:cNvSpPr/>
          <p:nvPr/>
        </p:nvSpPr>
        <p:spPr>
          <a:xfrm>
            <a:off x="0" y="990600"/>
            <a:ext cx="12192000" cy="63500"/>
          </a:xfrm>
          <a:prstGeom prst="rect">
            <a:avLst/>
          </a:prstGeom>
          <a:solidFill>
            <a:srgbClr val="ED29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/>
          <p:cNvSpPr txBox="1"/>
          <p:nvPr/>
        </p:nvSpPr>
        <p:spPr>
          <a:xfrm>
            <a:off x="698500" y="203200"/>
            <a:ext cx="10033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2600" b="1" dirty="0">
                <a:solidFill>
                  <a:srgbClr val="FFFFFF"/>
                </a:solidFill>
                <a:latin typeface="Georgia" panose="02040502050405020303" pitchFamily="18" charset="0"/>
              </a:rPr>
              <a:t>O grupo foi Formado por:</a:t>
            </a:r>
          </a:p>
        </p:txBody>
      </p:sp>
      <p:sp>
        <p:nvSpPr>
          <p:cNvPr id="6" name="Elipse 5"/>
          <p:cNvSpPr/>
          <p:nvPr/>
        </p:nvSpPr>
        <p:spPr>
          <a:xfrm>
            <a:off x="11226800" y="203200"/>
            <a:ext cx="584200" cy="5842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pt-BR" sz="1600" b="1">
                <a:solidFill>
                  <a:srgbClr val="002395"/>
                </a:solidFill>
                <a:latin typeface="Georgia" panose="02040502050405020303" pitchFamily="18" charset="0"/>
              </a:rPr>
              <a:t>10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698500" y="6350000"/>
            <a:ext cx="660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endParaRPr lang="pt-BR" sz="950" dirty="0">
              <a:solidFill>
                <a:srgbClr val="606474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Retângulo 8"/>
          <p:cNvSpPr/>
          <p:nvPr/>
        </p:nvSpPr>
        <p:spPr>
          <a:xfrm>
            <a:off x="11379200" y="6426200"/>
            <a:ext cx="190500" cy="762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/>
          <p:cNvSpPr txBox="1"/>
          <p:nvPr/>
        </p:nvSpPr>
        <p:spPr>
          <a:xfrm>
            <a:off x="444500" y="1422400"/>
            <a:ext cx="5969000" cy="4445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15900" indent="-215900">
              <a:lnSpc>
                <a:spcPct val="112000"/>
              </a:lnSpc>
              <a:spcAft>
                <a:spcPts val="1100"/>
              </a:spcAft>
            </a:pPr>
            <a:r>
              <a:rPr lang="pt-BR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 panose="020B0502040204020203" pitchFamily="34" charset="0"/>
              </a:rPr>
              <a:t>  </a:t>
            </a:r>
            <a:r>
              <a:rPr lang="pt-BR" sz="32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" panose="020B0502040204020203" pitchFamily="34" charset="0"/>
              </a:rPr>
              <a:t>Victor de barros</a:t>
            </a:r>
          </a:p>
          <a:p>
            <a:pPr marL="215900" indent="-215900">
              <a:lnSpc>
                <a:spcPct val="112000"/>
              </a:lnSpc>
              <a:spcAft>
                <a:spcPts val="1100"/>
              </a:spcAft>
            </a:pPr>
            <a:r>
              <a:rPr lang="pt-BR" sz="32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" panose="020B0502040204020203" pitchFamily="34" charset="0"/>
              </a:rPr>
              <a:t>  Lucas leite</a:t>
            </a:r>
          </a:p>
          <a:p>
            <a:pPr marL="215900" indent="-215900">
              <a:lnSpc>
                <a:spcPct val="112000"/>
              </a:lnSpc>
              <a:spcAft>
                <a:spcPts val="1100"/>
              </a:spcAft>
            </a:pPr>
            <a:r>
              <a:rPr lang="pt-BR" sz="32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" panose="020B0502040204020203" pitchFamily="34" charset="0"/>
              </a:rPr>
              <a:t>  Murilo</a:t>
            </a:r>
          </a:p>
          <a:p>
            <a:pPr marL="215900" indent="-215900">
              <a:lnSpc>
                <a:spcPct val="112000"/>
              </a:lnSpc>
              <a:spcAft>
                <a:spcPts val="1100"/>
              </a:spcAft>
            </a:pPr>
            <a:r>
              <a:rPr lang="pt-BR" sz="32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" panose="020B0502040204020203" pitchFamily="34" charset="0"/>
              </a:rPr>
              <a:t>  Valentina  </a:t>
            </a:r>
          </a:p>
        </p:txBody>
      </p:sp>
      <p:sp>
        <p:nvSpPr>
          <p:cNvPr id="12" name="CaixaDeTexto 11"/>
          <p:cNvSpPr txBox="1"/>
          <p:nvPr/>
        </p:nvSpPr>
        <p:spPr>
          <a:xfrm>
            <a:off x="698500" y="5562600"/>
            <a:ext cx="5969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endParaRPr lang="pt-BR" sz="1500" b="1" dirty="0">
              <a:solidFill>
                <a:srgbClr val="ED293A"/>
              </a:solidFill>
              <a:latin typeface="Georgia" panose="02040502050405020303" pitchFamily="18" charset="0"/>
            </a:endParaRPr>
          </a:p>
        </p:txBody>
      </p:sp>
      <p:sp>
        <p:nvSpPr>
          <p:cNvPr id="15" name="CaixaDeTexto 14"/>
          <p:cNvSpPr txBox="1"/>
          <p:nvPr/>
        </p:nvSpPr>
        <p:spPr>
          <a:xfrm>
            <a:off x="7112000" y="3860800"/>
            <a:ext cx="43815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endParaRPr lang="pt-BR" sz="950" dirty="0">
              <a:solidFill>
                <a:srgbClr val="606474"/>
              </a:solidFill>
              <a:latin typeface="Segoe UI" panose="020B0502040204020203" pitchFamily="34" charset="0"/>
            </a:endParaRPr>
          </a:p>
        </p:txBody>
      </p:sp>
      <p:sp>
        <p:nvSpPr>
          <p:cNvPr id="19" name="CaixaDeTexto 18"/>
          <p:cNvSpPr txBox="1"/>
          <p:nvPr/>
        </p:nvSpPr>
        <p:spPr>
          <a:xfrm>
            <a:off x="9398000" y="4724400"/>
            <a:ext cx="190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endParaRPr lang="pt-BR" sz="1100" dirty="0">
              <a:solidFill>
                <a:srgbClr val="001660"/>
              </a:solidFill>
              <a:latin typeface="Segoe UI" panose="020B0502040204020203" pitchFamily="34" charset="0"/>
            </a:endParaRP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4A147927-E6BA-AEB9-8D9B-65A39F2B1648}"/>
              </a:ext>
            </a:extLst>
          </p:cNvPr>
          <p:cNvCxnSpPr/>
          <p:nvPr/>
        </p:nvCxnSpPr>
        <p:spPr>
          <a:xfrm>
            <a:off x="698500" y="1946788"/>
            <a:ext cx="3598607" cy="0"/>
          </a:xfrm>
          <a:prstGeom prst="lin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Conector reto 25">
            <a:extLst>
              <a:ext uri="{FF2B5EF4-FFF2-40B4-BE49-F238E27FC236}">
                <a16:creationId xmlns:a16="http://schemas.microsoft.com/office/drawing/2014/main" id="{CBC072B9-09BB-8DCE-F7F4-211AC4E9441C}"/>
              </a:ext>
            </a:extLst>
          </p:cNvPr>
          <p:cNvCxnSpPr/>
          <p:nvPr/>
        </p:nvCxnSpPr>
        <p:spPr>
          <a:xfrm>
            <a:off x="678424" y="2620297"/>
            <a:ext cx="3598607" cy="0"/>
          </a:xfrm>
          <a:prstGeom prst="lin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Conector reto 26">
            <a:extLst>
              <a:ext uri="{FF2B5EF4-FFF2-40B4-BE49-F238E27FC236}">
                <a16:creationId xmlns:a16="http://schemas.microsoft.com/office/drawing/2014/main" id="{09731073-8EA4-F17A-C4D9-D83B4A734691}"/>
              </a:ext>
            </a:extLst>
          </p:cNvPr>
          <p:cNvCxnSpPr/>
          <p:nvPr/>
        </p:nvCxnSpPr>
        <p:spPr>
          <a:xfrm>
            <a:off x="678425" y="3303639"/>
            <a:ext cx="3598607" cy="0"/>
          </a:xfrm>
          <a:prstGeom prst="lin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5B0A6AD7-38B8-F777-5230-615DFCDE39C3}"/>
              </a:ext>
            </a:extLst>
          </p:cNvPr>
          <p:cNvCxnSpPr/>
          <p:nvPr/>
        </p:nvCxnSpPr>
        <p:spPr>
          <a:xfrm>
            <a:off x="698500" y="4030718"/>
            <a:ext cx="3598607" cy="0"/>
          </a:xfrm>
          <a:prstGeom prst="lin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318256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1784</Words>
  <Application>Microsoft Office PowerPoint</Application>
  <PresentationFormat>Widescreen</PresentationFormat>
  <Paragraphs>132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Georgia</vt:lpstr>
      <vt:lpstr>Segoe UI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Fatec</dc:creator>
  <cp:lastModifiedBy>Fatec</cp:lastModifiedBy>
  <cp:revision>2</cp:revision>
  <dcterms:created xsi:type="dcterms:W3CDTF">2026-10-02T20:44:26Z</dcterms:created>
  <dcterms:modified xsi:type="dcterms:W3CDTF">2026-10-05T17:34:56Z</dcterms:modified>
</cp:coreProperties>
</file>